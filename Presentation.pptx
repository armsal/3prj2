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60" r:id="rId5"/>
    <p:sldId id="261" r:id="rId6"/>
    <p:sldId id="262" r:id="rId7"/>
    <p:sldId id="264" r:id="rId8"/>
    <p:sldId id="265" r:id="rId9"/>
    <p:sldId id="266" r:id="rId10"/>
    <p:sldId id="267" r:id="rId11"/>
    <p:sldId id="259" r:id="rId12"/>
    <p:sldId id="269" r:id="rId13"/>
    <p:sldId id="270" r:id="rId14"/>
    <p:sldId id="268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110" y="6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797211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3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svg"/><Relationship Id="rId5" Type="http://schemas.openxmlformats.org/officeDocument/2006/relationships/hyperlink" Target="https://github.com/ArmSal/3PRJ2" TargetMode="External"/><Relationship Id="rId4" Type="http://schemas.openxmlformats.org/officeDocument/2006/relationships/hyperlink" Target="https://gaming-frontend-gtzd.onrender.com/" TargetMode="Externa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miter lim="800000"/>
          </a:ln>
        </p:spPr>
      </p:sp>
      <p:pic>
        <p:nvPicPr>
          <p:cNvPr id="3" name="Image 0"/>
          <p:cNvPicPr>
            <a:picLocks noChangeAspect="1"/>
          </p:cNvPicPr>
          <p:nvPr/>
        </p:nvPicPr>
        <p:blipFill>
          <a:blip r:embed="rId3"/>
          <a:srcRect l="1771" r="1771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2847975" y="392478"/>
            <a:ext cx="6342619" cy="1167874"/>
          </a:xfrm>
          <a:prstGeom prst="rect">
            <a:avLst/>
          </a:prstGeom>
          <a:solidFill>
            <a:srgbClr val="FFFFFF"/>
          </a:solidFill>
          <a:ln>
            <a:miter lim="800000"/>
          </a:ln>
        </p:spPr>
      </p:sp>
      <p:sp>
        <p:nvSpPr>
          <p:cNvPr id="5" name="Text 2"/>
          <p:cNvSpPr/>
          <p:nvPr/>
        </p:nvSpPr>
        <p:spPr>
          <a:xfrm>
            <a:off x="1919196" y="399574"/>
            <a:ext cx="8039100" cy="852011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ctr">
              <a:lnSpc>
                <a:spcPts val="6709"/>
              </a:lnSpc>
            </a:pPr>
            <a:r>
              <a:rPr lang="en-US" sz="6750" kern="0" spc="-405" dirty="0">
                <a:solidFill>
                  <a:srgbClr val="333333"/>
                </a:solidFill>
                <a:latin typeface="Geist Semi Bold" pitchFamily="34" charset="0"/>
                <a:ea typeface="Geist Semi Bold" pitchFamily="34" charset="-122"/>
                <a:cs typeface="Geist Semi Bold" pitchFamily="34" charset="-120"/>
              </a:rPr>
              <a:t>Discord Gaming Plus</a:t>
            </a: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3791920" y="1195574"/>
            <a:ext cx="4366818" cy="308372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ctr">
              <a:lnSpc>
                <a:spcPts val="2428"/>
              </a:lnSpc>
              <a:spcBef>
                <a:spcPts val="1045"/>
              </a:spcBef>
            </a:pPr>
            <a:r>
              <a:rPr lang="en-US" sz="1800" kern="0" spc="-72" dirty="0">
                <a:solidFill>
                  <a:srgbClr val="000000">
                    <a:alpha val="65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Plateforme de Gaming Social en Temps Réel</a:t>
            </a:r>
            <a:endParaRPr lang="en-US" dirty="0"/>
          </a:p>
        </p:txBody>
      </p:sp>
      <p:pic>
        <p:nvPicPr>
          <p:cNvPr id="10" name="Graphique 9">
            <a:extLst>
              <a:ext uri="{FF2B5EF4-FFF2-40B4-BE49-F238E27FC236}">
                <a16:creationId xmlns:a16="http://schemas.microsoft.com/office/drawing/2014/main" id="{FDCE79CD-0D9E-E946-58C9-24BC76DB22D9}"/>
              </a:ext>
            </a:extLst>
          </p:cNvPr>
          <p:cNvPicPr>
            <a:picLocks noChangeAspect="1"/>
          </p:cNvPicPr>
          <p:nvPr/>
        </p:nvPicPr>
        <p:blipFill>
          <a:blip>
            <a:alphaModFix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>
          <a:xfrm>
            <a:off x="9344025" y="1349760"/>
            <a:ext cx="2632078" cy="2632078"/>
          </a:xfrm>
          <a:prstGeom prst="rect">
            <a:avLst/>
          </a:prstGeom>
          <a:effectLst>
            <a:softEdge rad="63500"/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8625" y="411004"/>
            <a:ext cx="11334750" cy="47339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3727"/>
              </a:lnSpc>
            </a:pPr>
            <a:r>
              <a:rPr lang="en-US" sz="3750" kern="0" spc="-225" dirty="0">
                <a:solidFill>
                  <a:srgbClr val="333333"/>
                </a:solidFill>
                <a:latin typeface="Geist Semi Bold" pitchFamily="34" charset="0"/>
                <a:ea typeface="Geist Semi Bold" pitchFamily="34" charset="-122"/>
                <a:cs typeface="Geist Semi Bold" pitchFamily="34" charset="-120"/>
              </a:rPr>
              <a:t>Le Problème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28625" y="1034177"/>
            <a:ext cx="11334750" cy="282654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2226"/>
              </a:lnSpc>
              <a:spcBef>
                <a:spcPts val="1156"/>
              </a:spcBef>
            </a:pPr>
            <a:r>
              <a:rPr lang="en-US" sz="1650" kern="0" spc="-66" dirty="0">
                <a:solidFill>
                  <a:srgbClr val="000000">
                    <a:alpha val="65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Fragmentation et manque d'intégration pour les gamers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988219" y="2470785"/>
            <a:ext cx="1428750" cy="1428750"/>
          </a:xfrm>
          <a:prstGeom prst="ellipse">
            <a:avLst/>
          </a:prstGeom>
          <a:solidFill>
            <a:srgbClr val="38D8E6"/>
          </a:solidFill>
          <a:ln>
            <a:miter lim="800000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5864" y="2892150"/>
            <a:ext cx="752475" cy="609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69106" y="3994904"/>
            <a:ext cx="2466975" cy="519351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2045"/>
              </a:lnSpc>
            </a:pPr>
            <a:r>
              <a:rPr lang="en-US" sz="1800" kern="0" spc="-54" dirty="0">
                <a:solidFill>
                  <a:srgbClr val="333333"/>
                </a:solidFill>
                <a:latin typeface="Geist Semi Bold" pitchFamily="34" charset="0"/>
                <a:ea typeface="Geist Semi Bold" pitchFamily="34" charset="-122"/>
                <a:cs typeface="Geist Semi Bold" pitchFamily="34" charset="-120"/>
              </a:rPr>
              <a:t>Fragmentation des</a:t>
            </a:r>
            <a:br>
              <a:rPr lang="en-US" sz="1800" kern="0" spc="-54" dirty="0">
                <a:solidFill>
                  <a:srgbClr val="333333"/>
                </a:solidFill>
                <a:latin typeface="Geist Semi Bold" pitchFamily="34" charset="0"/>
                <a:ea typeface="Geist Semi Bold" pitchFamily="34" charset="-122"/>
                <a:cs typeface="Geist Semi Bold" pitchFamily="34" charset="-120"/>
              </a:rPr>
            </a:br>
            <a:r>
              <a:rPr lang="en-US" sz="1800" kern="0" spc="-54" dirty="0">
                <a:solidFill>
                  <a:srgbClr val="333333"/>
                </a:solidFill>
                <a:latin typeface="Geist Semi Bold" pitchFamily="34" charset="0"/>
                <a:ea typeface="Geist Semi Bold" pitchFamily="34" charset="-122"/>
                <a:cs typeface="Geist Semi Bold" pitchFamily="34" charset="-120"/>
              </a:rPr>
              <a:t>outils</a:t>
            </a: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403560" y="4594979"/>
            <a:ext cx="2598067" cy="102774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2023"/>
              </a:lnSpc>
              <a:spcBef>
                <a:spcPts val="623"/>
              </a:spcBef>
            </a:pPr>
            <a:r>
              <a:rPr lang="en-US" sz="1500" kern="0" spc="-60" dirty="0">
                <a:solidFill>
                  <a:srgbClr val="000000">
                    <a:alpha val="65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Les gamers utilisent plusieurs</a:t>
            </a:r>
            <a:br>
              <a:rPr lang="en-US" sz="1500" kern="0" spc="-60" dirty="0">
                <a:solidFill>
                  <a:srgbClr val="000000">
                    <a:alpha val="65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</a:br>
            <a:r>
              <a:rPr lang="en-US" sz="1500" kern="0" spc="-60" dirty="0">
                <a:solidFill>
                  <a:srgbClr val="000000">
                    <a:alpha val="65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applications (Discord, jeux,</a:t>
            </a:r>
            <a:br>
              <a:rPr lang="en-US" sz="1500" kern="0" spc="-60" dirty="0">
                <a:solidFill>
                  <a:srgbClr val="000000">
                    <a:alpha val="65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</a:br>
            <a:r>
              <a:rPr lang="en-US" sz="1500" kern="0" spc="-60" dirty="0">
                <a:solidFill>
                  <a:srgbClr val="000000">
                    <a:alpha val="65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chat) qui ne sont pas</a:t>
            </a:r>
            <a:br>
              <a:rPr lang="en-US" sz="1500" kern="0" spc="-60" dirty="0">
                <a:solidFill>
                  <a:srgbClr val="000000">
                    <a:alpha val="65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</a:br>
            <a:r>
              <a:rPr lang="en-US" sz="1500" kern="0" spc="-60" dirty="0">
                <a:solidFill>
                  <a:srgbClr val="000000">
                    <a:alpha val="65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connectées entre elles.</a:t>
            </a:r>
            <a:endParaRPr lang="en-US" dirty="0"/>
          </a:p>
        </p:txBody>
      </p:sp>
      <p:sp>
        <p:nvSpPr>
          <p:cNvPr id="8" name="Shape 5"/>
          <p:cNvSpPr/>
          <p:nvPr/>
        </p:nvSpPr>
        <p:spPr>
          <a:xfrm>
            <a:off x="3917156" y="2470785"/>
            <a:ext cx="1428750" cy="1428750"/>
          </a:xfrm>
          <a:prstGeom prst="ellipse">
            <a:avLst/>
          </a:prstGeom>
          <a:solidFill>
            <a:srgbClr val="56C4EA"/>
          </a:solidFill>
          <a:ln>
            <a:miter lim="800000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2713" y="2900526"/>
            <a:ext cx="952500" cy="5715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398044" y="3994904"/>
            <a:ext cx="2466975" cy="519351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2045"/>
              </a:lnSpc>
            </a:pPr>
            <a:r>
              <a:rPr lang="en-US" sz="1800" kern="0" spc="-54" dirty="0">
                <a:solidFill>
                  <a:srgbClr val="333333"/>
                </a:solidFill>
                <a:latin typeface="Geist Semi Bold" pitchFamily="34" charset="0"/>
                <a:ea typeface="Geist Semi Bold" pitchFamily="34" charset="-122"/>
                <a:cs typeface="Geist Semi Bold" pitchFamily="34" charset="-120"/>
              </a:rPr>
              <a:t>Manque d'intégration</a:t>
            </a:r>
            <a:br>
              <a:rPr lang="en-US" sz="1800" kern="0" spc="-54" dirty="0">
                <a:solidFill>
                  <a:srgbClr val="333333"/>
                </a:solidFill>
                <a:latin typeface="Geist Semi Bold" pitchFamily="34" charset="0"/>
                <a:ea typeface="Geist Semi Bold" pitchFamily="34" charset="-122"/>
                <a:cs typeface="Geist Semi Bold" pitchFamily="34" charset="-120"/>
              </a:rPr>
            </a:br>
            <a:r>
              <a:rPr lang="en-US" sz="1800" kern="0" spc="-54" dirty="0">
                <a:solidFill>
                  <a:srgbClr val="333333"/>
                </a:solidFill>
                <a:latin typeface="Geist Semi Bold" pitchFamily="34" charset="0"/>
                <a:ea typeface="Geist Semi Bold" pitchFamily="34" charset="-122"/>
                <a:cs typeface="Geist Semi Bold" pitchFamily="34" charset="-120"/>
              </a:rPr>
              <a:t>temps réel</a:t>
            </a: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3332197" y="4594979"/>
            <a:ext cx="2598668" cy="770811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2023"/>
              </a:lnSpc>
              <a:spcBef>
                <a:spcPts val="623"/>
              </a:spcBef>
            </a:pPr>
            <a:r>
              <a:rPr lang="en-US" sz="1500" kern="0" spc="-60" dirty="0">
                <a:solidFill>
                  <a:srgbClr val="000000">
                    <a:alpha val="65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Il n'y a pas de synchronisation</a:t>
            </a:r>
            <a:br>
              <a:rPr lang="en-US" sz="1500" kern="0" spc="-60" dirty="0">
                <a:solidFill>
                  <a:srgbClr val="000000">
                    <a:alpha val="65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</a:br>
            <a:r>
              <a:rPr lang="en-US" sz="1500" kern="0" spc="-60" dirty="0">
                <a:solidFill>
                  <a:srgbClr val="000000">
                    <a:alpha val="65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immédiate entre le chat et</a:t>
            </a:r>
            <a:br>
              <a:rPr lang="en-US" sz="1500" kern="0" spc="-60" dirty="0">
                <a:solidFill>
                  <a:srgbClr val="000000">
                    <a:alpha val="65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</a:br>
            <a:r>
              <a:rPr lang="en-US" sz="1500" kern="0" spc="-60" dirty="0">
                <a:solidFill>
                  <a:srgbClr val="000000">
                    <a:alpha val="65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l'action en jeu.</a:t>
            </a:r>
            <a:endParaRPr lang="en-US" dirty="0"/>
          </a:p>
        </p:txBody>
      </p:sp>
      <p:sp>
        <p:nvSpPr>
          <p:cNvPr id="12" name="Shape 8"/>
          <p:cNvSpPr/>
          <p:nvPr/>
        </p:nvSpPr>
        <p:spPr>
          <a:xfrm>
            <a:off x="6846094" y="2470785"/>
            <a:ext cx="1428750" cy="1428750"/>
          </a:xfrm>
          <a:prstGeom prst="ellipse">
            <a:avLst/>
          </a:prstGeom>
          <a:solidFill>
            <a:srgbClr val="75AFED"/>
          </a:solidFill>
          <a:ln>
            <a:miter lim="800000"/>
          </a:ln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59096" y="2808438"/>
            <a:ext cx="581025" cy="7620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284119" y="3994904"/>
            <a:ext cx="2547938" cy="519351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2045"/>
              </a:lnSpc>
            </a:pPr>
            <a:r>
              <a:rPr lang="en-US" sz="1800" kern="0" spc="-54" dirty="0">
                <a:solidFill>
                  <a:srgbClr val="333333"/>
                </a:solidFill>
                <a:latin typeface="Geist Semi Bold" pitchFamily="34" charset="0"/>
                <a:ea typeface="Geist Semi Bold" pitchFamily="34" charset="-122"/>
                <a:cs typeface="Geist Semi Bold" pitchFamily="34" charset="-120"/>
              </a:rPr>
              <a:t>Difficulté à organiser</a:t>
            </a:r>
            <a:br>
              <a:rPr lang="en-US" sz="1800" kern="0" spc="-54" dirty="0">
                <a:solidFill>
                  <a:srgbClr val="333333"/>
                </a:solidFill>
                <a:latin typeface="Geist Semi Bold" pitchFamily="34" charset="0"/>
                <a:ea typeface="Geist Semi Bold" pitchFamily="34" charset="-122"/>
                <a:cs typeface="Geist Semi Bold" pitchFamily="34" charset="-120"/>
              </a:rPr>
            </a:br>
            <a:r>
              <a:rPr lang="en-US" sz="1800" kern="0" spc="-54" dirty="0">
                <a:solidFill>
                  <a:srgbClr val="333333"/>
                </a:solidFill>
                <a:latin typeface="Geist Semi Bold" pitchFamily="34" charset="0"/>
                <a:ea typeface="Geist Semi Bold" pitchFamily="34" charset="-122"/>
                <a:cs typeface="Geist Semi Bold" pitchFamily="34" charset="-120"/>
              </a:rPr>
              <a:t>des tournois</a:t>
            </a:r>
            <a:endParaRPr lang="en-US" dirty="0"/>
          </a:p>
        </p:txBody>
      </p:sp>
      <p:sp>
        <p:nvSpPr>
          <p:cNvPr id="15" name="Text 10"/>
          <p:cNvSpPr/>
          <p:nvPr/>
        </p:nvSpPr>
        <p:spPr>
          <a:xfrm>
            <a:off x="6214406" y="4594979"/>
            <a:ext cx="2687363" cy="770811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2023"/>
              </a:lnSpc>
              <a:spcBef>
                <a:spcPts val="623"/>
              </a:spcBef>
            </a:pPr>
            <a:r>
              <a:rPr lang="en-US" sz="1500" kern="0" spc="-60" dirty="0">
                <a:solidFill>
                  <a:srgbClr val="000000">
                    <a:alpha val="65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L'organisation de tournois</a:t>
            </a:r>
            <a:br>
              <a:rPr lang="en-US" sz="1500" kern="0" spc="-60" dirty="0">
                <a:solidFill>
                  <a:srgbClr val="000000">
                    <a:alpha val="65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</a:br>
            <a:r>
              <a:rPr lang="en-US" sz="1500" kern="0" spc="-60" dirty="0">
                <a:solidFill>
                  <a:srgbClr val="000000">
                    <a:alpha val="65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amicaux est compliquée par le</a:t>
            </a:r>
            <a:br>
              <a:rPr lang="en-US" sz="1500" kern="0" spc="-60" dirty="0">
                <a:solidFill>
                  <a:srgbClr val="000000">
                    <a:alpha val="65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</a:br>
            <a:r>
              <a:rPr lang="en-US" sz="1500" kern="0" spc="-60" dirty="0">
                <a:solidFill>
                  <a:srgbClr val="000000">
                    <a:alpha val="65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manque d'outils intégrés.</a:t>
            </a:r>
            <a:endParaRPr lang="en-US" dirty="0"/>
          </a:p>
        </p:txBody>
      </p:sp>
      <p:sp>
        <p:nvSpPr>
          <p:cNvPr id="16" name="Shape 11"/>
          <p:cNvSpPr/>
          <p:nvPr/>
        </p:nvSpPr>
        <p:spPr>
          <a:xfrm>
            <a:off x="9775031" y="2470785"/>
            <a:ext cx="1428750" cy="1428750"/>
          </a:xfrm>
          <a:prstGeom prst="ellipse">
            <a:avLst/>
          </a:prstGeom>
          <a:solidFill>
            <a:srgbClr val="939BF1"/>
          </a:solidFill>
          <a:ln>
            <a:miter lim="800000"/>
          </a:ln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96390" y="2825182"/>
            <a:ext cx="590550" cy="70485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239070" y="3994904"/>
            <a:ext cx="2500672" cy="519351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2045"/>
              </a:lnSpc>
            </a:pPr>
            <a:r>
              <a:rPr lang="en-US" sz="1800" kern="0" spc="-54" dirty="0">
                <a:solidFill>
                  <a:srgbClr val="333333"/>
                </a:solidFill>
                <a:latin typeface="Geist Semi Bold" pitchFamily="34" charset="0"/>
                <a:ea typeface="Geist Semi Bold" pitchFamily="34" charset="-122"/>
                <a:cs typeface="Geist Semi Bold" pitchFamily="34" charset="-120"/>
              </a:rPr>
              <a:t>Friction pour rejoindre</a:t>
            </a:r>
            <a:br>
              <a:rPr lang="en-US" sz="1800" kern="0" spc="-54" dirty="0">
                <a:solidFill>
                  <a:srgbClr val="333333"/>
                </a:solidFill>
                <a:latin typeface="Geist Semi Bold" pitchFamily="34" charset="0"/>
                <a:ea typeface="Geist Semi Bold" pitchFamily="34" charset="-122"/>
                <a:cs typeface="Geist Semi Bold" pitchFamily="34" charset="-120"/>
              </a:rPr>
            </a:br>
            <a:r>
              <a:rPr lang="en-US" sz="1800" kern="0" spc="-54" dirty="0">
                <a:solidFill>
                  <a:srgbClr val="333333"/>
                </a:solidFill>
                <a:latin typeface="Geist Semi Bold" pitchFamily="34" charset="0"/>
                <a:ea typeface="Geist Semi Bold" pitchFamily="34" charset="-122"/>
                <a:cs typeface="Geist Semi Bold" pitchFamily="34" charset="-120"/>
              </a:rPr>
              <a:t>des parties</a:t>
            </a:r>
            <a:endParaRPr lang="en-US" dirty="0"/>
          </a:p>
        </p:txBody>
      </p:sp>
      <p:sp>
        <p:nvSpPr>
          <p:cNvPr id="19" name="Text 13"/>
          <p:cNvSpPr/>
          <p:nvPr/>
        </p:nvSpPr>
        <p:spPr>
          <a:xfrm>
            <a:off x="9205908" y="4594979"/>
            <a:ext cx="2566997" cy="770811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2023"/>
              </a:lnSpc>
              <a:spcBef>
                <a:spcPts val="623"/>
              </a:spcBef>
            </a:pPr>
            <a:r>
              <a:rPr lang="en-US" sz="1500" kern="0" spc="-60" dirty="0">
                <a:solidFill>
                  <a:srgbClr val="000000">
                    <a:alpha val="65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Il est difficile pour les amis de</a:t>
            </a:r>
            <a:br>
              <a:rPr lang="en-US" sz="1500" kern="0" spc="-60" dirty="0">
                <a:solidFill>
                  <a:srgbClr val="000000">
                    <a:alpha val="65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</a:br>
            <a:r>
              <a:rPr lang="en-US" sz="1500" kern="0" spc="-60" dirty="0">
                <a:solidFill>
                  <a:srgbClr val="000000">
                    <a:alpha val="65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se retrouver et de rejoindre</a:t>
            </a:r>
            <a:br>
              <a:rPr lang="en-US" sz="1500" kern="0" spc="-60" dirty="0">
                <a:solidFill>
                  <a:srgbClr val="000000">
                    <a:alpha val="65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</a:br>
            <a:r>
              <a:rPr lang="en-US" sz="1500" kern="0" spc="-60" dirty="0">
                <a:solidFill>
                  <a:srgbClr val="000000">
                    <a:alpha val="65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une partie ensemble.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8625" y="411004"/>
            <a:ext cx="11334750" cy="47339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3727"/>
              </a:lnSpc>
            </a:pPr>
            <a:r>
              <a:rPr lang="en-US" sz="3750" kern="0" spc="-225" dirty="0">
                <a:solidFill>
                  <a:srgbClr val="333333"/>
                </a:solidFill>
                <a:latin typeface="Geist Semi Bold" pitchFamily="34" charset="0"/>
                <a:ea typeface="Geist Semi Bold" pitchFamily="34" charset="-122"/>
                <a:cs typeface="Geist Semi Bold" pitchFamily="34" charset="-120"/>
              </a:rPr>
              <a:t>Notre Solution : Discord Gaming Plus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28625" y="1034177"/>
            <a:ext cx="11334750" cy="282654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2226"/>
              </a:lnSpc>
              <a:spcBef>
                <a:spcPts val="1156"/>
              </a:spcBef>
            </a:pPr>
            <a:r>
              <a:rPr lang="en-US" sz="1650" kern="0" spc="-66" dirty="0">
                <a:solidFill>
                  <a:srgbClr val="000000">
                    <a:alpha val="65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Une plateforme unique pour discuter, jouer et organiser des compétitions.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76250" y="1733550"/>
            <a:ext cx="4476750" cy="4648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miter lim="800000"/>
          </a:ln>
        </p:spPr>
      </p:sp>
      <p:pic>
        <p:nvPicPr>
          <p:cNvPr id="5" name="Image 0"/>
          <p:cNvPicPr>
            <a:picLocks noChangeAspect="1"/>
          </p:cNvPicPr>
          <p:nvPr/>
        </p:nvPicPr>
        <p:blipFill>
          <a:blip r:embed="rId3"/>
          <a:srcRect t="22056" b="22056"/>
          <a:stretch/>
        </p:blipFill>
        <p:spPr>
          <a:xfrm>
            <a:off x="476250" y="1733550"/>
            <a:ext cx="4476750" cy="4648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29250" y="2467927"/>
            <a:ext cx="6286500" cy="318563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marL="241300" indent="-241300" algn="l">
              <a:lnSpc>
                <a:spcPts val="2215"/>
              </a:lnSpc>
              <a:buSzPct val="100000"/>
              <a:buChar char="•"/>
            </a:pPr>
            <a:r>
              <a:rPr lang="en-US" sz="1950" kern="0" spc="-58" dirty="0">
                <a:solidFill>
                  <a:srgbClr val="333333"/>
                </a:solidFill>
                <a:latin typeface="Geist Semi Bold" pitchFamily="34" charset="0"/>
                <a:ea typeface="Geist Semi Bold" pitchFamily="34" charset="-122"/>
                <a:cs typeface="Geist Semi Bold" pitchFamily="34" charset="-120"/>
              </a:rPr>
              <a:t>Chat temps réel intégré</a:t>
            </a:r>
            <a:endParaRPr lang="en-US" dirty="0"/>
          </a:p>
          <a:p>
            <a:pPr marL="241300" lvl="1" indent="0" algn="l">
              <a:lnSpc>
                <a:spcPts val="2023"/>
              </a:lnSpc>
              <a:spcBef>
                <a:spcPts val="444"/>
              </a:spcBef>
              <a:buNone/>
            </a:pPr>
            <a:r>
              <a:rPr lang="en-US" sz="1500" kern="0" spc="-60" dirty="0">
                <a:solidFill>
                  <a:srgbClr val="000000">
                    <a:alpha val="65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Communication instantanée avec vos amis grâce à Socket.io.</a:t>
            </a:r>
            <a:endParaRPr lang="en-US" dirty="0"/>
          </a:p>
          <a:p>
            <a:pPr marL="241300" indent="-241300" algn="l">
              <a:lnSpc>
                <a:spcPts val="2215"/>
              </a:lnSpc>
              <a:spcBef>
                <a:spcPts val="2065"/>
              </a:spcBef>
              <a:buSzPct val="100000"/>
              <a:buChar char="•"/>
            </a:pPr>
            <a:r>
              <a:rPr lang="en-US" sz="1950" kern="0" spc="-58" dirty="0">
                <a:solidFill>
                  <a:srgbClr val="333333"/>
                </a:solidFill>
                <a:latin typeface="Geist Semi Bold" pitchFamily="34" charset="0"/>
                <a:ea typeface="Geist Semi Bold" pitchFamily="34" charset="-122"/>
                <a:cs typeface="Geist Semi Bold" pitchFamily="34" charset="-120"/>
              </a:rPr>
              <a:t>Mini-jeux multijoueurs</a:t>
            </a:r>
            <a:endParaRPr lang="en-US" dirty="0"/>
          </a:p>
          <a:p>
            <a:pPr marL="241300" lvl="1" indent="0" algn="l">
              <a:lnSpc>
                <a:spcPts val="2023"/>
              </a:lnSpc>
              <a:spcBef>
                <a:spcPts val="444"/>
              </a:spcBef>
              <a:buNone/>
            </a:pPr>
            <a:r>
              <a:rPr lang="en-US" sz="1500" kern="0" spc="-60" dirty="0">
                <a:solidFill>
                  <a:srgbClr val="000000">
                    <a:alpha val="65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Amusez-vous avec des jeux sans quitter l'application.</a:t>
            </a:r>
            <a:endParaRPr lang="en-US" dirty="0"/>
          </a:p>
          <a:p>
            <a:pPr marL="241300" indent="-241300" algn="l">
              <a:lnSpc>
                <a:spcPts val="2215"/>
              </a:lnSpc>
              <a:spcBef>
                <a:spcPts val="2065"/>
              </a:spcBef>
              <a:buSzPct val="100000"/>
              <a:buChar char="•"/>
            </a:pPr>
            <a:r>
              <a:rPr lang="en-US" sz="1950" kern="0" spc="-58" dirty="0">
                <a:solidFill>
                  <a:srgbClr val="333333"/>
                </a:solidFill>
                <a:latin typeface="Geist Semi Bold" pitchFamily="34" charset="0"/>
                <a:ea typeface="Geist Semi Bold" pitchFamily="34" charset="-122"/>
                <a:cs typeface="Geist Semi Bold" pitchFamily="34" charset="-120"/>
              </a:rPr>
              <a:t>Guildes et tournois</a:t>
            </a:r>
            <a:endParaRPr lang="en-US" dirty="0"/>
          </a:p>
          <a:p>
            <a:pPr marL="241300" lvl="1" indent="0" algn="l">
              <a:lnSpc>
                <a:spcPts val="2023"/>
              </a:lnSpc>
              <a:spcBef>
                <a:spcPts val="444"/>
              </a:spcBef>
              <a:buNone/>
            </a:pPr>
            <a:r>
              <a:rPr lang="en-US" sz="1500" kern="0" spc="-60" dirty="0">
                <a:solidFill>
                  <a:srgbClr val="000000">
                    <a:alpha val="65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Créez ou rejoignez des guildes et participez à des tournois.</a:t>
            </a:r>
            <a:endParaRPr lang="en-US" dirty="0"/>
          </a:p>
          <a:p>
            <a:pPr marL="241300" indent="-241300" algn="l">
              <a:lnSpc>
                <a:spcPts val="2215"/>
              </a:lnSpc>
              <a:spcBef>
                <a:spcPts val="2065"/>
              </a:spcBef>
              <a:buSzPct val="100000"/>
              <a:buChar char="•"/>
            </a:pPr>
            <a:r>
              <a:rPr lang="en-US" sz="1950" kern="0" spc="-58" dirty="0">
                <a:solidFill>
                  <a:srgbClr val="333333"/>
                </a:solidFill>
                <a:latin typeface="Geist Semi Bold" pitchFamily="34" charset="0"/>
                <a:ea typeface="Geist Semi Bold" pitchFamily="34" charset="-122"/>
                <a:cs typeface="Geist Semi Bold" pitchFamily="34" charset="-120"/>
              </a:rPr>
              <a:t>Mode spectateur</a:t>
            </a:r>
            <a:endParaRPr lang="en-US" dirty="0"/>
          </a:p>
          <a:p>
            <a:pPr marL="241300" lvl="1" indent="0" algn="l">
              <a:lnSpc>
                <a:spcPts val="2023"/>
              </a:lnSpc>
              <a:spcBef>
                <a:spcPts val="444"/>
              </a:spcBef>
              <a:buNone/>
            </a:pPr>
            <a:r>
              <a:rPr lang="en-US" sz="1500" kern="0" spc="-60" dirty="0">
                <a:solidFill>
                  <a:srgbClr val="000000">
                    <a:alpha val="65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Regardez vos amis jouer en direct.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8625" y="411004"/>
            <a:ext cx="11334750" cy="47339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3727"/>
              </a:lnSpc>
            </a:pPr>
            <a:r>
              <a:rPr lang="en-US" sz="3750" kern="0" spc="-225" dirty="0">
                <a:solidFill>
                  <a:srgbClr val="333333"/>
                </a:solidFill>
                <a:latin typeface="Geist Semi Bold" pitchFamily="34" charset="0"/>
                <a:ea typeface="Geist Semi Bold" pitchFamily="34" charset="-122"/>
                <a:cs typeface="Geist Semi Bold" pitchFamily="34" charset="-120"/>
              </a:rPr>
              <a:t>Architecture Technique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28625" y="1034177"/>
            <a:ext cx="11334750" cy="282654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2226"/>
              </a:lnSpc>
              <a:spcBef>
                <a:spcPts val="1156"/>
              </a:spcBef>
            </a:pPr>
            <a:r>
              <a:rPr lang="en-US" sz="1650" kern="0" spc="-66" dirty="0">
                <a:solidFill>
                  <a:srgbClr val="000000">
                    <a:alpha val="65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Une stack moderne pour une expérience fluide.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988219" y="2779395"/>
            <a:ext cx="1428750" cy="1428750"/>
          </a:xfrm>
          <a:prstGeom prst="ellipse">
            <a:avLst/>
          </a:prstGeom>
          <a:solidFill>
            <a:srgbClr val="38D8E6"/>
          </a:solidFill>
          <a:ln>
            <a:miter lim="800000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2615" y="3284474"/>
            <a:ext cx="714375" cy="4191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88156" y="4303514"/>
            <a:ext cx="2428875" cy="259675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2045"/>
              </a:lnSpc>
            </a:pPr>
            <a:r>
              <a:rPr lang="en-US" sz="1800" kern="0" spc="-54" dirty="0">
                <a:solidFill>
                  <a:srgbClr val="333333"/>
                </a:solidFill>
                <a:latin typeface="Geist Semi Bold" pitchFamily="34" charset="0"/>
                <a:ea typeface="Geist Semi Bold" pitchFamily="34" charset="-122"/>
                <a:cs typeface="Geist Semi Bold" pitchFamily="34" charset="-120"/>
              </a:rPr>
              <a:t>Frontend</a:t>
            </a: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423861" y="4643914"/>
            <a:ext cx="2557466" cy="513874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2023"/>
              </a:lnSpc>
              <a:spcBef>
                <a:spcPts val="623"/>
              </a:spcBef>
            </a:pPr>
            <a:r>
              <a:rPr lang="en-US" sz="1500" kern="0" spc="-60" dirty="0">
                <a:solidFill>
                  <a:srgbClr val="000000">
                    <a:alpha val="65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Vue 3, TypeScript, Pinia,</a:t>
            </a:r>
            <a:br>
              <a:rPr lang="en-US" sz="1500" kern="0" spc="-60" dirty="0">
                <a:solidFill>
                  <a:srgbClr val="000000">
                    <a:alpha val="65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</a:br>
            <a:r>
              <a:rPr lang="en-US" sz="1500" kern="0" spc="-60" dirty="0">
                <a:solidFill>
                  <a:srgbClr val="000000">
                    <a:alpha val="65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Socket.io-client, TailwindCSS</a:t>
            </a:r>
            <a:endParaRPr lang="en-US" dirty="0"/>
          </a:p>
        </p:txBody>
      </p:sp>
      <p:sp>
        <p:nvSpPr>
          <p:cNvPr id="8" name="Shape 5"/>
          <p:cNvSpPr/>
          <p:nvPr/>
        </p:nvSpPr>
        <p:spPr>
          <a:xfrm>
            <a:off x="3917156" y="2779395"/>
            <a:ext cx="1428750" cy="1428750"/>
          </a:xfrm>
          <a:prstGeom prst="ellipse">
            <a:avLst/>
          </a:prstGeom>
          <a:solidFill>
            <a:srgbClr val="56C4EA"/>
          </a:solidFill>
          <a:ln>
            <a:miter lim="800000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2006" y="3209131"/>
            <a:ext cx="514350" cy="5715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502819" y="4303514"/>
            <a:ext cx="2257425" cy="259675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2045"/>
              </a:lnSpc>
            </a:pPr>
            <a:r>
              <a:rPr lang="en-US" sz="1800" kern="0" spc="-54" dirty="0">
                <a:solidFill>
                  <a:srgbClr val="333333"/>
                </a:solidFill>
                <a:latin typeface="Geist Semi Bold" pitchFamily="34" charset="0"/>
                <a:ea typeface="Geist Semi Bold" pitchFamily="34" charset="-122"/>
                <a:cs typeface="Geist Semi Bold" pitchFamily="34" charset="-120"/>
              </a:rPr>
              <a:t>Backend</a:t>
            </a: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3448232" y="4643914"/>
            <a:ext cx="2366599" cy="513874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2023"/>
              </a:lnSpc>
              <a:spcBef>
                <a:spcPts val="623"/>
              </a:spcBef>
            </a:pPr>
            <a:r>
              <a:rPr lang="en-US" sz="1500" kern="0" spc="-60" dirty="0">
                <a:solidFill>
                  <a:srgbClr val="000000">
                    <a:alpha val="65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Node.js, Express, Socket.io,</a:t>
            </a:r>
            <a:br>
              <a:rPr lang="en-US" sz="1500" kern="0" spc="-60" dirty="0">
                <a:solidFill>
                  <a:srgbClr val="000000">
                    <a:alpha val="65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</a:br>
            <a:r>
              <a:rPr lang="en-US" sz="1500" kern="0" spc="-60" dirty="0">
                <a:solidFill>
                  <a:srgbClr val="000000">
                    <a:alpha val="65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JWT, bcryptjs</a:t>
            </a:r>
            <a:endParaRPr lang="en-US" dirty="0"/>
          </a:p>
        </p:txBody>
      </p:sp>
      <p:sp>
        <p:nvSpPr>
          <p:cNvPr id="12" name="Shape 8"/>
          <p:cNvSpPr/>
          <p:nvPr/>
        </p:nvSpPr>
        <p:spPr>
          <a:xfrm>
            <a:off x="6846094" y="2779395"/>
            <a:ext cx="1428750" cy="1428750"/>
          </a:xfrm>
          <a:prstGeom prst="ellipse">
            <a:avLst/>
          </a:prstGeom>
          <a:solidFill>
            <a:srgbClr val="75AFED"/>
          </a:solidFill>
          <a:ln>
            <a:miter lim="800000"/>
          </a:ln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50721" y="3225878"/>
            <a:ext cx="609600" cy="54292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008019" y="4303514"/>
            <a:ext cx="1104900" cy="259675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2045"/>
              </a:lnSpc>
            </a:pPr>
            <a:r>
              <a:rPr lang="en-US" sz="1800" kern="0" spc="-54" dirty="0">
                <a:solidFill>
                  <a:srgbClr val="333333"/>
                </a:solidFill>
                <a:latin typeface="Geist Semi Bold" pitchFamily="34" charset="0"/>
                <a:ea typeface="Geist Semi Bold" pitchFamily="34" charset="-122"/>
                <a:cs typeface="Geist Semi Bold" pitchFamily="34" charset="-120"/>
              </a:rPr>
              <a:t>Database</a:t>
            </a:r>
            <a:endParaRPr lang="en-US" dirty="0"/>
          </a:p>
        </p:txBody>
      </p:sp>
      <p:sp>
        <p:nvSpPr>
          <p:cNvPr id="15" name="Text 10"/>
          <p:cNvSpPr/>
          <p:nvPr/>
        </p:nvSpPr>
        <p:spPr>
          <a:xfrm>
            <a:off x="7008019" y="4643914"/>
            <a:ext cx="1104900" cy="256937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2023"/>
              </a:lnSpc>
              <a:spcBef>
                <a:spcPts val="623"/>
              </a:spcBef>
            </a:pPr>
            <a:r>
              <a:rPr lang="en-US" sz="1500" kern="0" spc="-60" dirty="0">
                <a:solidFill>
                  <a:srgbClr val="000000">
                    <a:alpha val="65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PostgreSQL</a:t>
            </a:r>
            <a:endParaRPr lang="en-US" dirty="0"/>
          </a:p>
        </p:txBody>
      </p:sp>
      <p:sp>
        <p:nvSpPr>
          <p:cNvPr id="16" name="Shape 11"/>
          <p:cNvSpPr/>
          <p:nvPr/>
        </p:nvSpPr>
        <p:spPr>
          <a:xfrm>
            <a:off x="9775031" y="2779395"/>
            <a:ext cx="1428750" cy="1428750"/>
          </a:xfrm>
          <a:prstGeom prst="ellipse">
            <a:avLst/>
          </a:prstGeom>
          <a:solidFill>
            <a:srgbClr val="939BF1"/>
          </a:solidFill>
          <a:ln>
            <a:miter lim="800000"/>
          </a:ln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79650" y="3242626"/>
            <a:ext cx="628650" cy="485775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517856" y="4303514"/>
            <a:ext cx="1943100" cy="259675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2045"/>
              </a:lnSpc>
            </a:pPr>
            <a:r>
              <a:rPr lang="en-US" sz="1800" kern="0" spc="-54" dirty="0">
                <a:solidFill>
                  <a:srgbClr val="333333"/>
                </a:solidFill>
                <a:latin typeface="Geist Semi Bold" pitchFamily="34" charset="0"/>
                <a:ea typeface="Geist Semi Bold" pitchFamily="34" charset="-122"/>
                <a:cs typeface="Geist Semi Bold" pitchFamily="34" charset="-120"/>
              </a:rPr>
              <a:t>DevOps</a:t>
            </a:r>
            <a:endParaRPr lang="en-US" dirty="0"/>
          </a:p>
        </p:txBody>
      </p:sp>
      <p:sp>
        <p:nvSpPr>
          <p:cNvPr id="19" name="Text 13"/>
          <p:cNvSpPr/>
          <p:nvPr/>
        </p:nvSpPr>
        <p:spPr>
          <a:xfrm>
            <a:off x="9480468" y="4643914"/>
            <a:ext cx="2017876" cy="256937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2023"/>
              </a:lnSpc>
              <a:spcBef>
                <a:spcPts val="623"/>
              </a:spcBef>
            </a:pPr>
            <a:r>
              <a:rPr lang="en-US" sz="1500" kern="0" spc="-60" dirty="0">
                <a:solidFill>
                  <a:srgbClr val="000000">
                    <a:alpha val="65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Docker, GitHub Actions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8625" y="411004"/>
            <a:ext cx="11334750" cy="47339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3727"/>
              </a:lnSpc>
            </a:pPr>
            <a:r>
              <a:rPr lang="en-US" sz="3750" kern="0" spc="-225" dirty="0">
                <a:solidFill>
                  <a:srgbClr val="333333"/>
                </a:solidFill>
                <a:latin typeface="Geist Semi Bold" pitchFamily="34" charset="0"/>
                <a:ea typeface="Geist Semi Bold" pitchFamily="34" charset="-122"/>
                <a:cs typeface="Geist Semi Bold" pitchFamily="34" charset="-120"/>
              </a:rPr>
              <a:t>Les Jeux Disponibles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28625" y="1034177"/>
            <a:ext cx="11334750" cy="282654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2226"/>
              </a:lnSpc>
              <a:spcBef>
                <a:spcPts val="1156"/>
              </a:spcBef>
            </a:pPr>
            <a:r>
              <a:rPr lang="en-US" sz="1650" kern="0" spc="-66" dirty="0">
                <a:solidFill>
                  <a:srgbClr val="000000">
                    <a:alpha val="65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Une sélection de 5 mini-jeux multijoueurs pour animer vos communautés.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76250" y="2090738"/>
            <a:ext cx="3619500" cy="1919288"/>
          </a:xfrm>
          <a:prstGeom prst="rect">
            <a:avLst/>
          </a:prstGeom>
          <a:solidFill>
            <a:srgbClr val="38D8E6"/>
          </a:solidFill>
          <a:ln>
            <a:miter lim="800000"/>
          </a:ln>
        </p:spPr>
      </p:sp>
      <p:sp>
        <p:nvSpPr>
          <p:cNvPr id="5" name="Text 3"/>
          <p:cNvSpPr/>
          <p:nvPr/>
        </p:nvSpPr>
        <p:spPr>
          <a:xfrm>
            <a:off x="762000" y="2586990"/>
            <a:ext cx="3238500" cy="28122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2215"/>
              </a:lnSpc>
            </a:pPr>
            <a:r>
              <a:rPr lang="en-US" sz="1950" kern="0" spc="-58" dirty="0">
                <a:solidFill>
                  <a:srgbClr val="FFFFFF"/>
                </a:solidFill>
                <a:latin typeface="Geist Semi Bold" pitchFamily="34" charset="0"/>
                <a:ea typeface="Geist Semi Bold" pitchFamily="34" charset="-122"/>
                <a:cs typeface="Geist Semi Bold" pitchFamily="34" charset="-120"/>
              </a:rPr>
              <a:t>Pong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62000" y="2944773"/>
            <a:ext cx="3238500" cy="256937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2023"/>
              </a:lnSpc>
              <a:spcBef>
                <a:spcPts val="591"/>
              </a:spcBef>
            </a:pPr>
            <a:r>
              <a:rPr lang="en-US" sz="1500" kern="0" spc="-60" dirty="0">
                <a:solidFill>
                  <a:srgbClr val="FFFFFF">
                    <a:alpha val="80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2 joueurs, Spectateur, 60 FPS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1976437" y="1733550"/>
            <a:ext cx="714375" cy="714375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AC2D1"/>
            </a:solidFill>
            <a:prstDash val="solid"/>
            <a:miter lim="800000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1314" y="1948420"/>
            <a:ext cx="285750" cy="28575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286250" y="2090738"/>
            <a:ext cx="3619500" cy="1919288"/>
          </a:xfrm>
          <a:prstGeom prst="rect">
            <a:avLst/>
          </a:prstGeom>
          <a:solidFill>
            <a:srgbClr val="4FC9E9"/>
          </a:solidFill>
          <a:ln>
            <a:miter lim="800000"/>
          </a:ln>
        </p:spPr>
      </p:sp>
      <p:sp>
        <p:nvSpPr>
          <p:cNvPr id="10" name="Text 7"/>
          <p:cNvSpPr/>
          <p:nvPr/>
        </p:nvSpPr>
        <p:spPr>
          <a:xfrm>
            <a:off x="4572000" y="2586990"/>
            <a:ext cx="3238500" cy="28122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2215"/>
              </a:lnSpc>
            </a:pPr>
            <a:r>
              <a:rPr lang="en-US" sz="1950" kern="0" spc="-58" dirty="0">
                <a:solidFill>
                  <a:srgbClr val="FFFFFF"/>
                </a:solidFill>
                <a:latin typeface="Geist Semi Bold" pitchFamily="34" charset="0"/>
                <a:ea typeface="Geist Semi Bold" pitchFamily="34" charset="-122"/>
                <a:cs typeface="Geist Semi Bold" pitchFamily="34" charset="-120"/>
              </a:rPr>
              <a:t>Snake</a:t>
            </a: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4572000" y="2944773"/>
            <a:ext cx="3238500" cy="256937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2023"/>
              </a:lnSpc>
              <a:spcBef>
                <a:spcPts val="591"/>
              </a:spcBef>
            </a:pPr>
            <a:r>
              <a:rPr lang="en-US" sz="1500" kern="0" spc="-60" dirty="0">
                <a:solidFill>
                  <a:srgbClr val="FFFFFF">
                    <a:alpha val="80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2 joueurs, Spectateur, Socket.io</a:t>
            </a:r>
            <a:endParaRPr lang="en-US" dirty="0"/>
          </a:p>
        </p:txBody>
      </p:sp>
      <p:sp>
        <p:nvSpPr>
          <p:cNvPr id="12" name="Shape 9"/>
          <p:cNvSpPr/>
          <p:nvPr/>
        </p:nvSpPr>
        <p:spPr>
          <a:xfrm>
            <a:off x="5786437" y="1733550"/>
            <a:ext cx="714375" cy="714375"/>
          </a:xfrm>
          <a:prstGeom prst="ellipse">
            <a:avLst/>
          </a:prstGeom>
          <a:solidFill>
            <a:srgbClr val="FFFFFF"/>
          </a:solidFill>
          <a:ln w="38100">
            <a:solidFill>
              <a:srgbClr val="22BBE3"/>
            </a:solidFill>
            <a:prstDash val="solid"/>
            <a:miter lim="800000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4555" y="1965164"/>
            <a:ext cx="323850" cy="257175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8096250" y="2090738"/>
            <a:ext cx="3619500" cy="1919288"/>
          </a:xfrm>
          <a:prstGeom prst="rect">
            <a:avLst/>
          </a:prstGeom>
          <a:solidFill>
            <a:srgbClr val="66BAEC"/>
          </a:solidFill>
          <a:ln>
            <a:miter lim="800000"/>
          </a:ln>
        </p:spPr>
      </p:sp>
      <p:sp>
        <p:nvSpPr>
          <p:cNvPr id="15" name="Text 11"/>
          <p:cNvSpPr/>
          <p:nvPr/>
        </p:nvSpPr>
        <p:spPr>
          <a:xfrm>
            <a:off x="8382000" y="2586990"/>
            <a:ext cx="3238500" cy="28122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2215"/>
              </a:lnSpc>
            </a:pPr>
            <a:r>
              <a:rPr lang="en-US" sz="1950" kern="0" spc="-58" dirty="0">
                <a:solidFill>
                  <a:srgbClr val="FFFFFF"/>
                </a:solidFill>
                <a:latin typeface="Geist Semi Bold" pitchFamily="34" charset="0"/>
                <a:ea typeface="Geist Semi Bold" pitchFamily="34" charset="-122"/>
                <a:cs typeface="Geist Semi Bold" pitchFamily="34" charset="-120"/>
              </a:rPr>
              <a:t>TicTacToe</a:t>
            </a:r>
            <a:endParaRPr lang="en-US" dirty="0"/>
          </a:p>
        </p:txBody>
      </p:sp>
      <p:sp>
        <p:nvSpPr>
          <p:cNvPr id="16" name="Text 12"/>
          <p:cNvSpPr/>
          <p:nvPr/>
        </p:nvSpPr>
        <p:spPr>
          <a:xfrm>
            <a:off x="8382000" y="2944773"/>
            <a:ext cx="3238500" cy="256937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2023"/>
              </a:lnSpc>
              <a:spcBef>
                <a:spcPts val="591"/>
              </a:spcBef>
            </a:pPr>
            <a:r>
              <a:rPr lang="en-US" sz="1500" kern="0" spc="-60" dirty="0">
                <a:solidFill>
                  <a:srgbClr val="FFFFFF">
                    <a:alpha val="80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2 joueurs, Spectateur, Tour par tour</a:t>
            </a:r>
            <a:endParaRPr lang="en-US" dirty="0"/>
          </a:p>
        </p:txBody>
      </p:sp>
      <p:sp>
        <p:nvSpPr>
          <p:cNvPr id="17" name="Shape 13"/>
          <p:cNvSpPr/>
          <p:nvPr/>
        </p:nvSpPr>
        <p:spPr>
          <a:xfrm>
            <a:off x="9596437" y="1733550"/>
            <a:ext cx="714375" cy="714375"/>
          </a:xfrm>
          <a:prstGeom prst="ellipse">
            <a:avLst/>
          </a:prstGeom>
          <a:solidFill>
            <a:srgbClr val="FFFFFF"/>
          </a:solidFill>
          <a:ln w="38100">
            <a:solidFill>
              <a:srgbClr val="39A6E6"/>
            </a:solidFill>
            <a:prstDash val="solid"/>
            <a:miter lim="800000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74090" y="1931678"/>
            <a:ext cx="171450" cy="323850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476250" y="4462463"/>
            <a:ext cx="5524500" cy="1919288"/>
          </a:xfrm>
          <a:prstGeom prst="rect">
            <a:avLst/>
          </a:prstGeom>
          <a:solidFill>
            <a:srgbClr val="7CAAEE"/>
          </a:solidFill>
          <a:ln>
            <a:miter lim="800000"/>
          </a:ln>
        </p:spPr>
      </p:sp>
      <p:sp>
        <p:nvSpPr>
          <p:cNvPr id="20" name="Text 15"/>
          <p:cNvSpPr/>
          <p:nvPr/>
        </p:nvSpPr>
        <p:spPr>
          <a:xfrm>
            <a:off x="762000" y="4958715"/>
            <a:ext cx="5143500" cy="28122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2215"/>
              </a:lnSpc>
            </a:pPr>
            <a:r>
              <a:rPr lang="en-US" sz="1950" kern="0" spc="-58" dirty="0">
                <a:solidFill>
                  <a:srgbClr val="FFFFFF"/>
                </a:solidFill>
                <a:latin typeface="Geist Semi Bold" pitchFamily="34" charset="0"/>
                <a:ea typeface="Geist Semi Bold" pitchFamily="34" charset="-122"/>
                <a:cs typeface="Geist Semi Bold" pitchFamily="34" charset="-120"/>
              </a:rPr>
              <a:t>Chess</a:t>
            </a:r>
            <a:endParaRPr lang="en-US" dirty="0"/>
          </a:p>
        </p:txBody>
      </p:sp>
      <p:sp>
        <p:nvSpPr>
          <p:cNvPr id="21" name="Text 16"/>
          <p:cNvSpPr/>
          <p:nvPr/>
        </p:nvSpPr>
        <p:spPr>
          <a:xfrm>
            <a:off x="762000" y="5316498"/>
            <a:ext cx="5143500" cy="256937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2023"/>
              </a:lnSpc>
              <a:spcBef>
                <a:spcPts val="591"/>
              </a:spcBef>
            </a:pPr>
            <a:r>
              <a:rPr lang="en-US" sz="1500" kern="0" spc="-60" dirty="0">
                <a:solidFill>
                  <a:srgbClr val="FFFFFF">
                    <a:alpha val="80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2 joueurs, Spectateur, Tour par tour</a:t>
            </a:r>
            <a:endParaRPr lang="en-US" dirty="0"/>
          </a:p>
        </p:txBody>
      </p:sp>
      <p:sp>
        <p:nvSpPr>
          <p:cNvPr id="22" name="Shape 17"/>
          <p:cNvSpPr/>
          <p:nvPr/>
        </p:nvSpPr>
        <p:spPr>
          <a:xfrm>
            <a:off x="2928937" y="4105275"/>
            <a:ext cx="714375" cy="714375"/>
          </a:xfrm>
          <a:prstGeom prst="ellipse">
            <a:avLst/>
          </a:prstGeom>
          <a:solidFill>
            <a:srgbClr val="FFFFFF"/>
          </a:solidFill>
          <a:ln w="38100">
            <a:solidFill>
              <a:srgbClr val="4F8DE8"/>
            </a:solidFill>
            <a:prstDash val="solid"/>
            <a:miter lim="800000"/>
          </a:ln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6590" y="4303403"/>
            <a:ext cx="171450" cy="323850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6191250" y="4462463"/>
            <a:ext cx="5524500" cy="1919288"/>
          </a:xfrm>
          <a:prstGeom prst="rect">
            <a:avLst/>
          </a:prstGeom>
          <a:solidFill>
            <a:srgbClr val="939BF1"/>
          </a:solidFill>
          <a:ln>
            <a:miter lim="800000"/>
          </a:ln>
        </p:spPr>
      </p:sp>
      <p:sp>
        <p:nvSpPr>
          <p:cNvPr id="25" name="Text 19"/>
          <p:cNvSpPr/>
          <p:nvPr/>
        </p:nvSpPr>
        <p:spPr>
          <a:xfrm>
            <a:off x="6477000" y="4958715"/>
            <a:ext cx="5143500" cy="28122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2215"/>
              </a:lnSpc>
            </a:pPr>
            <a:r>
              <a:rPr lang="en-US" sz="1950" kern="0" spc="-58" dirty="0">
                <a:solidFill>
                  <a:srgbClr val="FFFFFF"/>
                </a:solidFill>
                <a:latin typeface="Geist Semi Bold" pitchFamily="34" charset="0"/>
                <a:ea typeface="Geist Semi Bold" pitchFamily="34" charset="-122"/>
                <a:cs typeface="Geist Semi Bold" pitchFamily="34" charset="-120"/>
              </a:rPr>
              <a:t>Trivia</a:t>
            </a:r>
            <a:endParaRPr lang="en-US" dirty="0"/>
          </a:p>
        </p:txBody>
      </p:sp>
      <p:sp>
        <p:nvSpPr>
          <p:cNvPr id="26" name="Text 20"/>
          <p:cNvSpPr/>
          <p:nvPr/>
        </p:nvSpPr>
        <p:spPr>
          <a:xfrm>
            <a:off x="6477000" y="5316498"/>
            <a:ext cx="5143500" cy="256937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2023"/>
              </a:lnSpc>
              <a:spcBef>
                <a:spcPts val="591"/>
              </a:spcBef>
            </a:pPr>
            <a:r>
              <a:rPr lang="en-US" sz="1500" kern="0" spc="-60" dirty="0">
                <a:solidFill>
                  <a:srgbClr val="FFFFFF">
                    <a:alpha val="80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Illimité, Pas de spectateur, Quiz rapide</a:t>
            </a:r>
            <a:endParaRPr lang="en-US" dirty="0"/>
          </a:p>
        </p:txBody>
      </p:sp>
      <p:sp>
        <p:nvSpPr>
          <p:cNvPr id="27" name="Shape 21"/>
          <p:cNvSpPr/>
          <p:nvPr/>
        </p:nvSpPr>
        <p:spPr>
          <a:xfrm>
            <a:off x="8643937" y="4105275"/>
            <a:ext cx="714375" cy="714375"/>
          </a:xfrm>
          <a:prstGeom prst="ellipse">
            <a:avLst/>
          </a:prstGeom>
          <a:solidFill>
            <a:srgbClr val="FFFFFF"/>
          </a:solidFill>
          <a:ln w="38100">
            <a:solidFill>
              <a:srgbClr val="6671EB"/>
            </a:solidFill>
            <a:prstDash val="solid"/>
            <a:miter lim="800000"/>
          </a:ln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29501" y="4307587"/>
            <a:ext cx="352425" cy="31432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8625" y="411004"/>
            <a:ext cx="11334750" cy="47339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3727"/>
              </a:lnSpc>
            </a:pPr>
            <a:r>
              <a:rPr lang="en-US" sz="3750" kern="0" spc="-225" dirty="0">
                <a:solidFill>
                  <a:srgbClr val="333333"/>
                </a:solidFill>
                <a:latin typeface="Geist Semi Bold" pitchFamily="34" charset="0"/>
                <a:ea typeface="Geist Semi Bold" pitchFamily="34" charset="-122"/>
                <a:cs typeface="Geist Semi Bold" pitchFamily="34" charset="-120"/>
              </a:rPr>
              <a:t>Fonctionnalités Clés : Social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28625" y="1034177"/>
            <a:ext cx="11334750" cy="282654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2226"/>
              </a:lnSpc>
              <a:spcBef>
                <a:spcPts val="1156"/>
              </a:spcBef>
            </a:pPr>
            <a:r>
              <a:rPr lang="en-US" sz="1650" kern="0" spc="-66" dirty="0">
                <a:solidFill>
                  <a:srgbClr val="000000">
                    <a:alpha val="65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Connectivité et communauté au cœur de l'expérience.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76250" y="2909888"/>
            <a:ext cx="2667000" cy="2652713"/>
          </a:xfrm>
          <a:prstGeom prst="rect">
            <a:avLst/>
          </a:prstGeom>
          <a:solidFill>
            <a:srgbClr val="38D8E6"/>
          </a:solidFill>
          <a:ln>
            <a:miter lim="800000"/>
          </a:ln>
        </p:spPr>
      </p:sp>
      <p:sp>
        <p:nvSpPr>
          <p:cNvPr id="5" name="Text 3"/>
          <p:cNvSpPr/>
          <p:nvPr/>
        </p:nvSpPr>
        <p:spPr>
          <a:xfrm>
            <a:off x="762000" y="3406140"/>
            <a:ext cx="2286000" cy="562451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2215"/>
              </a:lnSpc>
            </a:pPr>
            <a:r>
              <a:rPr lang="en-US" sz="1950" kern="0" spc="-58" dirty="0">
                <a:solidFill>
                  <a:srgbClr val="FFFFFF"/>
                </a:solidFill>
                <a:latin typeface="Geist Semi Bold" pitchFamily="34" charset="0"/>
                <a:ea typeface="Geist Semi Bold" pitchFamily="34" charset="-122"/>
                <a:cs typeface="Geist Semi Bold" pitchFamily="34" charset="-120"/>
              </a:rPr>
              <a:t>Authentification</a:t>
            </a:r>
            <a:br>
              <a:rPr lang="en-US" sz="1950" kern="0" spc="-58" dirty="0">
                <a:solidFill>
                  <a:srgbClr val="FFFFFF"/>
                </a:solidFill>
                <a:latin typeface="Geist Semi Bold" pitchFamily="34" charset="0"/>
                <a:ea typeface="Geist Semi Bold" pitchFamily="34" charset="-122"/>
                <a:cs typeface="Geist Semi Bold" pitchFamily="34" charset="-120"/>
              </a:rPr>
            </a:br>
            <a:r>
              <a:rPr lang="en-US" sz="1950" kern="0" spc="-58" dirty="0">
                <a:solidFill>
                  <a:srgbClr val="FFFFFF"/>
                </a:solidFill>
                <a:latin typeface="Geist Semi Bold" pitchFamily="34" charset="0"/>
                <a:ea typeface="Geist Semi Bold" pitchFamily="34" charset="-122"/>
                <a:cs typeface="Geist Semi Bold" pitchFamily="34" charset="-120"/>
              </a:rPr>
              <a:t>JWT Sécurisée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62000" y="4045148"/>
            <a:ext cx="2286000" cy="770811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2023"/>
              </a:lnSpc>
              <a:spcBef>
                <a:spcPts val="591"/>
              </a:spcBef>
            </a:pPr>
            <a:r>
              <a:rPr lang="en-US" sz="1500" kern="0" spc="-60" dirty="0">
                <a:solidFill>
                  <a:srgbClr val="FFFFFF">
                    <a:alpha val="80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Assure une connexion</a:t>
            </a:r>
            <a:br>
              <a:rPr lang="en-US" sz="1500" kern="0" spc="-60" dirty="0">
                <a:solidFill>
                  <a:srgbClr val="FFFFFF">
                    <a:alpha val="80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</a:br>
            <a:r>
              <a:rPr lang="en-US" sz="1500" kern="0" spc="-60" dirty="0">
                <a:solidFill>
                  <a:srgbClr val="FFFFFF">
                    <a:alpha val="80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sécurisée et fiable pour</a:t>
            </a:r>
            <a:br>
              <a:rPr lang="en-US" sz="1500" kern="0" spc="-60" dirty="0">
                <a:solidFill>
                  <a:srgbClr val="FFFFFF">
                    <a:alpha val="80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</a:br>
            <a:r>
              <a:rPr lang="en-US" sz="1500" kern="0" spc="-60" dirty="0">
                <a:solidFill>
                  <a:srgbClr val="FFFFFF">
                    <a:alpha val="80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tous les utilisateurs.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1500187" y="2552700"/>
            <a:ext cx="714375" cy="714375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AC2D1"/>
            </a:solidFill>
            <a:prstDash val="solid"/>
            <a:miter lim="800000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9474" y="2750830"/>
            <a:ext cx="180975" cy="32385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3333750" y="2909888"/>
            <a:ext cx="2667000" cy="2652713"/>
          </a:xfrm>
          <a:prstGeom prst="rect">
            <a:avLst/>
          </a:prstGeom>
          <a:solidFill>
            <a:srgbClr val="56C4EA"/>
          </a:solidFill>
          <a:ln>
            <a:miter lim="800000"/>
          </a:ln>
        </p:spPr>
      </p:sp>
      <p:sp>
        <p:nvSpPr>
          <p:cNvPr id="10" name="Text 7"/>
          <p:cNvSpPr/>
          <p:nvPr/>
        </p:nvSpPr>
        <p:spPr>
          <a:xfrm>
            <a:off x="3619500" y="3406140"/>
            <a:ext cx="2286000" cy="562451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2215"/>
              </a:lnSpc>
            </a:pPr>
            <a:r>
              <a:rPr lang="en-US" sz="1950" kern="0" spc="-58" dirty="0">
                <a:solidFill>
                  <a:srgbClr val="FFFFFF"/>
                </a:solidFill>
                <a:latin typeface="Geist Semi Bold" pitchFamily="34" charset="0"/>
                <a:ea typeface="Geist Semi Bold" pitchFamily="34" charset="-122"/>
                <a:cs typeface="Geist Semi Bold" pitchFamily="34" charset="-120"/>
              </a:rPr>
              <a:t>Chat Temps Réel</a:t>
            </a:r>
            <a:br>
              <a:rPr lang="en-US" sz="1950" kern="0" spc="-58" dirty="0">
                <a:solidFill>
                  <a:srgbClr val="FFFFFF"/>
                </a:solidFill>
                <a:latin typeface="Geist Semi Bold" pitchFamily="34" charset="0"/>
                <a:ea typeface="Geist Semi Bold" pitchFamily="34" charset="-122"/>
                <a:cs typeface="Geist Semi Bold" pitchFamily="34" charset="-120"/>
              </a:rPr>
            </a:br>
            <a:r>
              <a:rPr lang="en-US" sz="1950" kern="0" spc="-58" dirty="0">
                <a:solidFill>
                  <a:srgbClr val="FFFFFF"/>
                </a:solidFill>
                <a:latin typeface="Geist Semi Bold" pitchFamily="34" charset="0"/>
                <a:ea typeface="Geist Semi Bold" pitchFamily="34" charset="-122"/>
                <a:cs typeface="Geist Semi Bold" pitchFamily="34" charset="-120"/>
              </a:rPr>
              <a:t>Multi-Canaux</a:t>
            </a: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3619500" y="4045148"/>
            <a:ext cx="2329338" cy="1284684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2023"/>
              </a:lnSpc>
              <a:spcBef>
                <a:spcPts val="591"/>
              </a:spcBef>
            </a:pPr>
            <a:r>
              <a:rPr lang="en-US" sz="1500" kern="0" spc="-60" dirty="0">
                <a:solidFill>
                  <a:srgbClr val="FFFFFF">
                    <a:alpha val="80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Permet une</a:t>
            </a:r>
            <a:br>
              <a:rPr lang="en-US" sz="1500" kern="0" spc="-60" dirty="0">
                <a:solidFill>
                  <a:srgbClr val="FFFFFF">
                    <a:alpha val="80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</a:br>
            <a:r>
              <a:rPr lang="en-US" sz="1500" kern="0" spc="-60" dirty="0">
                <a:solidFill>
                  <a:srgbClr val="FFFFFF">
                    <a:alpha val="80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communication</a:t>
            </a:r>
            <a:br>
              <a:rPr lang="en-US" sz="1500" kern="0" spc="-60" dirty="0">
                <a:solidFill>
                  <a:srgbClr val="FFFFFF">
                    <a:alpha val="80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</a:br>
            <a:r>
              <a:rPr lang="en-US" sz="1500" kern="0" spc="-60" dirty="0">
                <a:solidFill>
                  <a:srgbClr val="FFFFFF">
                    <a:alpha val="80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instantanée sur plusieurs</a:t>
            </a:r>
            <a:br>
              <a:rPr lang="en-US" sz="1500" kern="0" spc="-60" dirty="0">
                <a:solidFill>
                  <a:srgbClr val="FFFFFF">
                    <a:alpha val="80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</a:br>
            <a:r>
              <a:rPr lang="en-US" sz="1500" kern="0" spc="-60" dirty="0">
                <a:solidFill>
                  <a:srgbClr val="FFFFFF">
                    <a:alpha val="80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canaux, avec un historique</a:t>
            </a:r>
            <a:br>
              <a:rPr lang="en-US" sz="1500" kern="0" spc="-60" dirty="0">
                <a:solidFill>
                  <a:srgbClr val="FFFFFF">
                    <a:alpha val="80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</a:br>
            <a:r>
              <a:rPr lang="en-US" sz="1500" kern="0" spc="-60" dirty="0">
                <a:solidFill>
                  <a:srgbClr val="FFFFFF">
                    <a:alpha val="80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complet des messages.</a:t>
            </a:r>
            <a:endParaRPr lang="en-US" dirty="0"/>
          </a:p>
        </p:txBody>
      </p:sp>
      <p:sp>
        <p:nvSpPr>
          <p:cNvPr id="12" name="Shape 9"/>
          <p:cNvSpPr/>
          <p:nvPr/>
        </p:nvSpPr>
        <p:spPr>
          <a:xfrm>
            <a:off x="4357687" y="2552700"/>
            <a:ext cx="714375" cy="714375"/>
          </a:xfrm>
          <a:prstGeom prst="ellipse">
            <a:avLst/>
          </a:prstGeom>
          <a:solidFill>
            <a:srgbClr val="FFFFFF"/>
          </a:solidFill>
          <a:ln w="38100">
            <a:solidFill>
              <a:srgbClr val="29B4E4"/>
            </a:solidFill>
            <a:prstDash val="solid"/>
            <a:miter lim="800000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9992" y="2755013"/>
            <a:ext cx="304800" cy="30480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6191250" y="2909888"/>
            <a:ext cx="2667000" cy="2652713"/>
          </a:xfrm>
          <a:prstGeom prst="rect">
            <a:avLst/>
          </a:prstGeom>
          <a:solidFill>
            <a:srgbClr val="75AFED"/>
          </a:solidFill>
          <a:ln>
            <a:miter lim="800000"/>
          </a:ln>
        </p:spPr>
      </p:sp>
      <p:sp>
        <p:nvSpPr>
          <p:cNvPr id="15" name="Text 11"/>
          <p:cNvSpPr/>
          <p:nvPr/>
        </p:nvSpPr>
        <p:spPr>
          <a:xfrm>
            <a:off x="6477000" y="3406140"/>
            <a:ext cx="2286000" cy="562451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2215"/>
              </a:lnSpc>
            </a:pPr>
            <a:r>
              <a:rPr lang="en-US" sz="1950" kern="0" spc="-58" dirty="0">
                <a:solidFill>
                  <a:srgbClr val="FFFFFF"/>
                </a:solidFill>
                <a:latin typeface="Geist Semi Bold" pitchFamily="34" charset="0"/>
                <a:ea typeface="Geist Semi Bold" pitchFamily="34" charset="-122"/>
                <a:cs typeface="Geist Semi Bold" pitchFamily="34" charset="-120"/>
              </a:rPr>
              <a:t>Système de</a:t>
            </a:r>
            <a:br>
              <a:rPr lang="en-US" sz="1950" kern="0" spc="-58" dirty="0">
                <a:solidFill>
                  <a:srgbClr val="FFFFFF"/>
                </a:solidFill>
                <a:latin typeface="Geist Semi Bold" pitchFamily="34" charset="0"/>
                <a:ea typeface="Geist Semi Bold" pitchFamily="34" charset="-122"/>
                <a:cs typeface="Geist Semi Bold" pitchFamily="34" charset="-120"/>
              </a:rPr>
            </a:br>
            <a:r>
              <a:rPr lang="en-US" sz="1950" kern="0" spc="-58" dirty="0">
                <a:solidFill>
                  <a:srgbClr val="FFFFFF"/>
                </a:solidFill>
                <a:latin typeface="Geist Semi Bold" pitchFamily="34" charset="0"/>
                <a:ea typeface="Geist Semi Bold" pitchFamily="34" charset="-122"/>
                <a:cs typeface="Geist Semi Bold" pitchFamily="34" charset="-120"/>
              </a:rPr>
              <a:t>Guildes</a:t>
            </a:r>
            <a:endParaRPr lang="en-US" dirty="0"/>
          </a:p>
        </p:txBody>
      </p:sp>
      <p:sp>
        <p:nvSpPr>
          <p:cNvPr id="16" name="Text 12"/>
          <p:cNvSpPr/>
          <p:nvPr/>
        </p:nvSpPr>
        <p:spPr>
          <a:xfrm>
            <a:off x="6477000" y="4045148"/>
            <a:ext cx="2345052" cy="1284684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2023"/>
              </a:lnSpc>
              <a:spcBef>
                <a:spcPts val="591"/>
              </a:spcBef>
            </a:pPr>
            <a:r>
              <a:rPr lang="en-US" sz="1500" kern="0" spc="-60" dirty="0">
                <a:solidFill>
                  <a:srgbClr val="FFFFFF">
                    <a:alpha val="80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Créez des communautés</a:t>
            </a:r>
            <a:br>
              <a:rPr lang="en-US" sz="1500" kern="0" spc="-60" dirty="0">
                <a:solidFill>
                  <a:srgbClr val="FFFFFF">
                    <a:alpha val="80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</a:br>
            <a:r>
              <a:rPr lang="en-US" sz="1500" kern="0" spc="-60" dirty="0">
                <a:solidFill>
                  <a:srgbClr val="FFFFFF">
                    <a:alpha val="80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personnalisées avec des</a:t>
            </a:r>
            <a:br>
              <a:rPr lang="en-US" sz="1500" kern="0" spc="-60" dirty="0">
                <a:solidFill>
                  <a:srgbClr val="FFFFFF">
                    <a:alpha val="80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</a:br>
            <a:r>
              <a:rPr lang="en-US" sz="1500" kern="0" spc="-60" dirty="0">
                <a:solidFill>
                  <a:srgbClr val="FFFFFF">
                    <a:alpha val="80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rôles et des canaux dédiés</a:t>
            </a:r>
            <a:br>
              <a:rPr lang="en-US" sz="1500" kern="0" spc="-60" dirty="0">
                <a:solidFill>
                  <a:srgbClr val="FFFFFF">
                    <a:alpha val="80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</a:br>
            <a:r>
              <a:rPr lang="en-US" sz="1500" kern="0" spc="-60" dirty="0">
                <a:solidFill>
                  <a:srgbClr val="FFFFFF">
                    <a:alpha val="80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pour une organisation</a:t>
            </a:r>
            <a:br>
              <a:rPr lang="en-US" sz="1500" kern="0" spc="-60" dirty="0">
                <a:solidFill>
                  <a:srgbClr val="FFFFFF">
                    <a:alpha val="80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</a:br>
            <a:r>
              <a:rPr lang="en-US" sz="1500" kern="0" spc="-60" dirty="0">
                <a:solidFill>
                  <a:srgbClr val="FFFFFF">
                    <a:alpha val="80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optimale.</a:t>
            </a:r>
            <a:endParaRPr lang="en-US" dirty="0"/>
          </a:p>
        </p:txBody>
      </p:sp>
      <p:sp>
        <p:nvSpPr>
          <p:cNvPr id="17" name="Shape 13"/>
          <p:cNvSpPr/>
          <p:nvPr/>
        </p:nvSpPr>
        <p:spPr>
          <a:xfrm>
            <a:off x="7215187" y="2552700"/>
            <a:ext cx="714375" cy="714375"/>
          </a:xfrm>
          <a:prstGeom prst="ellipse">
            <a:avLst/>
          </a:prstGeom>
          <a:solidFill>
            <a:srgbClr val="FFFFFF"/>
          </a:solidFill>
          <a:ln w="38100">
            <a:solidFill>
              <a:srgbClr val="4895E7"/>
            </a:solidFill>
            <a:prstDash val="solid"/>
            <a:miter lim="800000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9126" y="2708969"/>
            <a:ext cx="333375" cy="400050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9048750" y="2909888"/>
            <a:ext cx="2667000" cy="2652713"/>
          </a:xfrm>
          <a:prstGeom prst="rect">
            <a:avLst/>
          </a:prstGeom>
          <a:solidFill>
            <a:srgbClr val="939BF1"/>
          </a:solidFill>
          <a:ln>
            <a:miter lim="800000"/>
          </a:ln>
        </p:spPr>
      </p:sp>
      <p:sp>
        <p:nvSpPr>
          <p:cNvPr id="20" name="Text 15"/>
          <p:cNvSpPr/>
          <p:nvPr/>
        </p:nvSpPr>
        <p:spPr>
          <a:xfrm>
            <a:off x="9334500" y="3406140"/>
            <a:ext cx="2286000" cy="562451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2215"/>
              </a:lnSpc>
            </a:pPr>
            <a:r>
              <a:rPr lang="en-US" sz="1950" kern="0" spc="-58" dirty="0">
                <a:solidFill>
                  <a:srgbClr val="FFFFFF"/>
                </a:solidFill>
                <a:latin typeface="Geist Semi Bold" pitchFamily="34" charset="0"/>
                <a:ea typeface="Geist Semi Bold" pitchFamily="34" charset="-122"/>
                <a:cs typeface="Geist Semi Bold" pitchFamily="34" charset="-120"/>
              </a:rPr>
              <a:t>Leaderboard</a:t>
            </a:r>
            <a:br>
              <a:rPr lang="en-US" sz="1950" kern="0" spc="-58" dirty="0">
                <a:solidFill>
                  <a:srgbClr val="FFFFFF"/>
                </a:solidFill>
                <a:latin typeface="Geist Semi Bold" pitchFamily="34" charset="0"/>
                <a:ea typeface="Geist Semi Bold" pitchFamily="34" charset="-122"/>
                <a:cs typeface="Geist Semi Bold" pitchFamily="34" charset="-120"/>
              </a:rPr>
            </a:br>
            <a:r>
              <a:rPr lang="en-US" sz="1950" kern="0" spc="-58" dirty="0">
                <a:solidFill>
                  <a:srgbClr val="FFFFFF"/>
                </a:solidFill>
                <a:latin typeface="Geist Semi Bold" pitchFamily="34" charset="0"/>
                <a:ea typeface="Geist Semi Bold" pitchFamily="34" charset="-122"/>
                <a:cs typeface="Geist Semi Bold" pitchFamily="34" charset="-120"/>
              </a:rPr>
              <a:t>Global</a:t>
            </a:r>
            <a:endParaRPr lang="en-US" dirty="0"/>
          </a:p>
        </p:txBody>
      </p:sp>
      <p:sp>
        <p:nvSpPr>
          <p:cNvPr id="21" name="Text 16"/>
          <p:cNvSpPr/>
          <p:nvPr/>
        </p:nvSpPr>
        <p:spPr>
          <a:xfrm>
            <a:off x="9334500" y="4045148"/>
            <a:ext cx="2286000" cy="102774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2023"/>
              </a:lnSpc>
              <a:spcBef>
                <a:spcPts val="591"/>
              </a:spcBef>
            </a:pPr>
            <a:r>
              <a:rPr lang="en-US" sz="1500" kern="0" spc="-60" dirty="0">
                <a:solidFill>
                  <a:srgbClr val="FFFFFF">
                    <a:alpha val="80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Met en avant les</a:t>
            </a:r>
            <a:br>
              <a:rPr lang="en-US" sz="1500" kern="0" spc="-60" dirty="0">
                <a:solidFill>
                  <a:srgbClr val="FFFFFF">
                    <a:alpha val="80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</a:br>
            <a:r>
              <a:rPr lang="en-US" sz="1500" kern="0" spc="-60" dirty="0">
                <a:solidFill>
                  <a:srgbClr val="FFFFFF">
                    <a:alpha val="80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performances et la</a:t>
            </a:r>
            <a:br>
              <a:rPr lang="en-US" sz="1500" kern="0" spc="-60" dirty="0">
                <a:solidFill>
                  <a:srgbClr val="FFFFFF">
                    <a:alpha val="80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</a:br>
            <a:r>
              <a:rPr lang="en-US" sz="1500" kern="0" spc="-60" dirty="0">
                <a:solidFill>
                  <a:srgbClr val="FFFFFF">
                    <a:alpha val="80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compétition à l'échelle</a:t>
            </a:r>
            <a:br>
              <a:rPr lang="en-US" sz="1500" kern="0" spc="-60" dirty="0">
                <a:solidFill>
                  <a:srgbClr val="FFFFFF">
                    <a:alpha val="80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</a:br>
            <a:r>
              <a:rPr lang="en-US" sz="1500" kern="0" spc="-60" dirty="0">
                <a:solidFill>
                  <a:srgbClr val="FFFFFF">
                    <a:alpha val="80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mondiale.</a:t>
            </a:r>
            <a:endParaRPr lang="en-US" dirty="0"/>
          </a:p>
        </p:txBody>
      </p:sp>
      <p:sp>
        <p:nvSpPr>
          <p:cNvPr id="22" name="Shape 17"/>
          <p:cNvSpPr/>
          <p:nvPr/>
        </p:nvSpPr>
        <p:spPr>
          <a:xfrm>
            <a:off x="10072687" y="2552700"/>
            <a:ext cx="714375" cy="714375"/>
          </a:xfrm>
          <a:prstGeom prst="ellipse">
            <a:avLst/>
          </a:prstGeom>
          <a:solidFill>
            <a:srgbClr val="FFFFFF"/>
          </a:solidFill>
          <a:ln w="38100">
            <a:solidFill>
              <a:srgbClr val="6671EB"/>
            </a:solidFill>
            <a:prstDash val="solid"/>
            <a:miter lim="800000"/>
          </a:ln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70814" y="2750827"/>
            <a:ext cx="323850" cy="3238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8625" y="411004"/>
            <a:ext cx="11334750" cy="47339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3727"/>
              </a:lnSpc>
            </a:pPr>
            <a:r>
              <a:rPr lang="en-US" sz="3750" kern="0" spc="-225" dirty="0">
                <a:solidFill>
                  <a:srgbClr val="333333"/>
                </a:solidFill>
                <a:latin typeface="Geist Semi Bold" pitchFamily="34" charset="0"/>
                <a:ea typeface="Geist Semi Bold" pitchFamily="34" charset="-122"/>
                <a:cs typeface="Geist Semi Bold" pitchFamily="34" charset="-120"/>
              </a:rPr>
              <a:t>Points Forts du Backend Node.js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28625" y="1034177"/>
            <a:ext cx="11334750" cy="282654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2226"/>
              </a:lnSpc>
              <a:spcBef>
                <a:spcPts val="1156"/>
              </a:spcBef>
            </a:pPr>
            <a:r>
              <a:rPr lang="en-US" sz="1650" kern="0" spc="-66" dirty="0">
                <a:solidFill>
                  <a:srgbClr val="000000">
                    <a:alpha val="65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Application robuste, sécurisée et évolutive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1095375" y="2425065"/>
            <a:ext cx="714375" cy="714375"/>
          </a:xfrm>
          <a:prstGeom prst="ellipse">
            <a:avLst/>
          </a:prstGeom>
          <a:solidFill>
            <a:srgbClr val="38D8E6"/>
          </a:solidFill>
          <a:ln>
            <a:miter lim="800000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0247" y="2614821"/>
            <a:ext cx="285750" cy="3429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000250" y="2377559"/>
            <a:ext cx="3952875" cy="259675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2045"/>
              </a:lnSpc>
            </a:pPr>
            <a:r>
              <a:rPr lang="en-US" sz="1800" kern="0" spc="-54" dirty="0">
                <a:solidFill>
                  <a:srgbClr val="333333"/>
                </a:solidFill>
                <a:latin typeface="Geist Semi Bold" pitchFamily="34" charset="0"/>
                <a:ea typeface="Geist Semi Bold" pitchFamily="34" charset="-122"/>
                <a:cs typeface="Geist Semi Bold" pitchFamily="34" charset="-120"/>
              </a:rPr>
              <a:t>Authentification Temps Réel</a:t>
            </a: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2000250" y="2717959"/>
            <a:ext cx="3952875" cy="513874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2023"/>
              </a:lnSpc>
              <a:spcBef>
                <a:spcPts val="623"/>
              </a:spcBef>
            </a:pPr>
            <a:r>
              <a:rPr lang="en-US" sz="1500" kern="0" spc="-60" dirty="0">
                <a:solidFill>
                  <a:srgbClr val="000000">
                    <a:alpha val="65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Sécurisation des connexions via des</a:t>
            </a:r>
            <a:br>
              <a:rPr lang="en-US" sz="1500" kern="0" spc="-60" dirty="0">
                <a:solidFill>
                  <a:srgbClr val="000000">
                    <a:alpha val="65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</a:br>
            <a:r>
              <a:rPr lang="en-US" sz="1500" kern="0" spc="-60" dirty="0">
                <a:solidFill>
                  <a:srgbClr val="000000">
                    <a:alpha val="65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middlewares Socket.io.</a:t>
            </a:r>
            <a:endParaRPr lang="en-US" dirty="0"/>
          </a:p>
        </p:txBody>
      </p:sp>
      <p:sp>
        <p:nvSpPr>
          <p:cNvPr id="8" name="Shape 5"/>
          <p:cNvSpPr/>
          <p:nvPr/>
        </p:nvSpPr>
        <p:spPr>
          <a:xfrm>
            <a:off x="1095375" y="3653790"/>
            <a:ext cx="714375" cy="714375"/>
          </a:xfrm>
          <a:prstGeom prst="ellipse">
            <a:avLst/>
          </a:prstGeom>
          <a:solidFill>
            <a:srgbClr val="4ACCE8"/>
          </a:solidFill>
          <a:ln>
            <a:miter lim="800000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2805" y="3868659"/>
            <a:ext cx="257175" cy="28575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000250" y="3606284"/>
            <a:ext cx="3952875" cy="259675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2045"/>
              </a:lnSpc>
            </a:pPr>
            <a:r>
              <a:rPr lang="en-US" sz="1800" kern="0" spc="-54" dirty="0">
                <a:solidFill>
                  <a:srgbClr val="333333"/>
                </a:solidFill>
                <a:latin typeface="Geist Semi Bold" pitchFamily="34" charset="0"/>
                <a:ea typeface="Geist Semi Bold" pitchFamily="34" charset="-122"/>
                <a:cs typeface="Geist Semi Bold" pitchFamily="34" charset="-120"/>
              </a:rPr>
              <a:t>Logique Serveur Réactive</a:t>
            </a: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2000250" y="3946684"/>
            <a:ext cx="4219575" cy="513874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2023"/>
              </a:lnSpc>
              <a:spcBef>
                <a:spcPts val="623"/>
              </a:spcBef>
            </a:pPr>
            <a:r>
              <a:rPr lang="en-US" sz="1500" kern="0" spc="-60" dirty="0">
                <a:solidFill>
                  <a:srgbClr val="000000">
                    <a:alpha val="65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Gestion d'événements critiques avec une boucle</a:t>
            </a:r>
            <a:br>
              <a:rPr lang="en-US" sz="1500" kern="0" spc="-60" dirty="0">
                <a:solidFill>
                  <a:srgbClr val="000000">
                    <a:alpha val="65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</a:br>
            <a:r>
              <a:rPr lang="en-US" sz="1500" kern="0" spc="-60" dirty="0">
                <a:solidFill>
                  <a:srgbClr val="000000">
                    <a:alpha val="65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serveur pour une réactivité accrue.</a:t>
            </a:r>
            <a:endParaRPr lang="en-US" dirty="0"/>
          </a:p>
        </p:txBody>
      </p:sp>
      <p:sp>
        <p:nvSpPr>
          <p:cNvPr id="12" name="Shape 8"/>
          <p:cNvSpPr/>
          <p:nvPr/>
        </p:nvSpPr>
        <p:spPr>
          <a:xfrm>
            <a:off x="1095375" y="4882515"/>
            <a:ext cx="714375" cy="714375"/>
          </a:xfrm>
          <a:prstGeom prst="ellipse">
            <a:avLst/>
          </a:prstGeom>
          <a:solidFill>
            <a:srgbClr val="5CC0EA"/>
          </a:solidFill>
          <a:ln>
            <a:miter lim="800000"/>
          </a:ln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2568" y="5135054"/>
            <a:ext cx="361950" cy="20955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000250" y="4835009"/>
            <a:ext cx="3952875" cy="259675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2045"/>
              </a:lnSpc>
            </a:pPr>
            <a:r>
              <a:rPr lang="en-US" sz="1800" kern="0" spc="-54" dirty="0">
                <a:solidFill>
                  <a:srgbClr val="333333"/>
                </a:solidFill>
                <a:latin typeface="Geist Semi Bold" pitchFamily="34" charset="0"/>
                <a:ea typeface="Geist Semi Bold" pitchFamily="34" charset="-122"/>
                <a:cs typeface="Geist Semi Bold" pitchFamily="34" charset="-120"/>
              </a:rPr>
              <a:t>Architecture MVC</a:t>
            </a:r>
            <a:endParaRPr lang="en-US" dirty="0"/>
          </a:p>
        </p:txBody>
      </p:sp>
      <p:sp>
        <p:nvSpPr>
          <p:cNvPr id="15" name="Text 10"/>
          <p:cNvSpPr/>
          <p:nvPr/>
        </p:nvSpPr>
        <p:spPr>
          <a:xfrm>
            <a:off x="2000250" y="5175409"/>
            <a:ext cx="4081105" cy="513874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2023"/>
              </a:lnSpc>
              <a:spcBef>
                <a:spcPts val="623"/>
              </a:spcBef>
            </a:pPr>
            <a:r>
              <a:rPr lang="en-US" sz="1500" kern="0" spc="-60" dirty="0">
                <a:solidFill>
                  <a:srgbClr val="000000">
                    <a:alpha val="65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Organisation claire du code pour une meilleure</a:t>
            </a:r>
            <a:br>
              <a:rPr lang="en-US" sz="1500" kern="0" spc="-60" dirty="0">
                <a:solidFill>
                  <a:srgbClr val="000000">
                    <a:alpha val="65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</a:br>
            <a:r>
              <a:rPr lang="en-US" sz="1500" kern="0" spc="-60" dirty="0">
                <a:solidFill>
                  <a:srgbClr val="000000">
                    <a:alpha val="65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maintenabilité.</a:t>
            </a:r>
            <a:endParaRPr lang="en-US" dirty="0"/>
          </a:p>
        </p:txBody>
      </p:sp>
      <p:sp>
        <p:nvSpPr>
          <p:cNvPr id="16" name="Shape 11"/>
          <p:cNvSpPr/>
          <p:nvPr/>
        </p:nvSpPr>
        <p:spPr>
          <a:xfrm>
            <a:off x="6334125" y="2425065"/>
            <a:ext cx="714375" cy="714375"/>
          </a:xfrm>
          <a:prstGeom prst="ellipse">
            <a:avLst/>
          </a:prstGeom>
          <a:solidFill>
            <a:srgbClr val="6FB3ED"/>
          </a:solidFill>
          <a:ln>
            <a:miter lim="800000"/>
          </a:ln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1318" y="2677605"/>
            <a:ext cx="361950" cy="20955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239000" y="2377559"/>
            <a:ext cx="3952875" cy="259675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2045"/>
              </a:lnSpc>
            </a:pPr>
            <a:r>
              <a:rPr lang="en-US" sz="1800" kern="0" spc="-54" dirty="0">
                <a:solidFill>
                  <a:srgbClr val="333333"/>
                </a:solidFill>
                <a:latin typeface="Geist Semi Bold" pitchFamily="34" charset="0"/>
                <a:ea typeface="Geist Semi Bold" pitchFamily="34" charset="-122"/>
                <a:cs typeface="Geist Semi Bold" pitchFamily="34" charset="-120"/>
              </a:rPr>
              <a:t>Utilisation de TypeScript</a:t>
            </a:r>
            <a:endParaRPr lang="en-US" dirty="0"/>
          </a:p>
        </p:txBody>
      </p:sp>
      <p:sp>
        <p:nvSpPr>
          <p:cNvPr id="19" name="Text 13"/>
          <p:cNvSpPr/>
          <p:nvPr/>
        </p:nvSpPr>
        <p:spPr>
          <a:xfrm>
            <a:off x="7239000" y="2717959"/>
            <a:ext cx="3952875" cy="513874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2023"/>
              </a:lnSpc>
              <a:spcBef>
                <a:spcPts val="623"/>
              </a:spcBef>
            </a:pPr>
            <a:r>
              <a:rPr lang="en-US" sz="1500" kern="0" spc="-60" dirty="0">
                <a:solidFill>
                  <a:srgbClr val="000000">
                    <a:alpha val="65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Assure la robustesse et la maintenabilité du</a:t>
            </a:r>
            <a:br>
              <a:rPr lang="en-US" sz="1500" kern="0" spc="-60" dirty="0">
                <a:solidFill>
                  <a:srgbClr val="000000">
                    <a:alpha val="65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</a:br>
            <a:r>
              <a:rPr lang="en-US" sz="1500" kern="0" spc="-60" dirty="0">
                <a:solidFill>
                  <a:srgbClr val="000000">
                    <a:alpha val="65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code grâce au typage statique.</a:t>
            </a:r>
            <a:endParaRPr lang="en-US" dirty="0"/>
          </a:p>
        </p:txBody>
      </p:sp>
      <p:sp>
        <p:nvSpPr>
          <p:cNvPr id="20" name="Shape 14"/>
          <p:cNvSpPr/>
          <p:nvPr/>
        </p:nvSpPr>
        <p:spPr>
          <a:xfrm>
            <a:off x="6334125" y="3653790"/>
            <a:ext cx="714375" cy="714375"/>
          </a:xfrm>
          <a:prstGeom prst="ellipse">
            <a:avLst/>
          </a:prstGeom>
          <a:solidFill>
            <a:srgbClr val="81A7EF"/>
          </a:solidFill>
          <a:ln>
            <a:miter lim="800000"/>
          </a:ln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02948" y="3835168"/>
            <a:ext cx="381000" cy="352425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239000" y="3606284"/>
            <a:ext cx="3952875" cy="259675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2045"/>
              </a:lnSpc>
            </a:pPr>
            <a:r>
              <a:rPr lang="en-US" sz="1800" kern="0" spc="-54" dirty="0">
                <a:solidFill>
                  <a:srgbClr val="333333"/>
                </a:solidFill>
                <a:latin typeface="Geist Semi Bold" pitchFamily="34" charset="0"/>
                <a:ea typeface="Geist Semi Bold" pitchFamily="34" charset="-122"/>
                <a:cs typeface="Geist Semi Bold" pitchFamily="34" charset="-120"/>
              </a:rPr>
              <a:t>Validation des Données</a:t>
            </a:r>
            <a:endParaRPr lang="en-US" dirty="0"/>
          </a:p>
        </p:txBody>
      </p:sp>
      <p:sp>
        <p:nvSpPr>
          <p:cNvPr id="23" name="Text 16"/>
          <p:cNvSpPr/>
          <p:nvPr/>
        </p:nvSpPr>
        <p:spPr>
          <a:xfrm>
            <a:off x="7239000" y="3946684"/>
            <a:ext cx="3952875" cy="513874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2023"/>
              </a:lnSpc>
              <a:spcBef>
                <a:spcPts val="623"/>
              </a:spcBef>
            </a:pPr>
            <a:r>
              <a:rPr lang="en-US" sz="1500" kern="0" spc="-60" dirty="0">
                <a:solidFill>
                  <a:srgbClr val="000000">
                    <a:alpha val="65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Sécurité accrue grâce à la validation des</a:t>
            </a:r>
            <a:br>
              <a:rPr lang="en-US" sz="1500" kern="0" spc="-60" dirty="0">
                <a:solidFill>
                  <a:srgbClr val="000000">
                    <a:alpha val="65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</a:br>
            <a:r>
              <a:rPr lang="en-US" sz="1500" kern="0" spc="-60" dirty="0">
                <a:solidFill>
                  <a:srgbClr val="000000">
                    <a:alpha val="65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données via des middlewares.</a:t>
            </a:r>
            <a:endParaRPr lang="en-US" dirty="0"/>
          </a:p>
        </p:txBody>
      </p:sp>
      <p:sp>
        <p:nvSpPr>
          <p:cNvPr id="24" name="Shape 17"/>
          <p:cNvSpPr/>
          <p:nvPr/>
        </p:nvSpPr>
        <p:spPr>
          <a:xfrm>
            <a:off x="6334125" y="4882515"/>
            <a:ext cx="714375" cy="714375"/>
          </a:xfrm>
          <a:prstGeom prst="ellipse">
            <a:avLst/>
          </a:prstGeom>
          <a:solidFill>
            <a:srgbClr val="939BF1"/>
          </a:solidFill>
          <a:ln>
            <a:miter lim="800000"/>
          </a:ln>
        </p:spPr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36434" y="5105757"/>
            <a:ext cx="304800" cy="276225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7239000" y="4835009"/>
            <a:ext cx="3952875" cy="259675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2045"/>
              </a:lnSpc>
            </a:pPr>
            <a:r>
              <a:rPr lang="en-US" sz="1800" kern="0" spc="-54" dirty="0">
                <a:solidFill>
                  <a:srgbClr val="333333"/>
                </a:solidFill>
                <a:latin typeface="Geist Semi Bold" pitchFamily="34" charset="0"/>
                <a:ea typeface="Geist Semi Bold" pitchFamily="34" charset="-122"/>
                <a:cs typeface="Geist Semi Bold" pitchFamily="34" charset="-120"/>
              </a:rPr>
              <a:t>Pool de Connexions PostgreSQL</a:t>
            </a:r>
            <a:endParaRPr lang="en-US" dirty="0"/>
          </a:p>
        </p:txBody>
      </p:sp>
      <p:sp>
        <p:nvSpPr>
          <p:cNvPr id="27" name="Text 19"/>
          <p:cNvSpPr/>
          <p:nvPr/>
        </p:nvSpPr>
        <p:spPr>
          <a:xfrm>
            <a:off x="7239000" y="5175409"/>
            <a:ext cx="4080388" cy="513874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2023"/>
              </a:lnSpc>
              <a:spcBef>
                <a:spcPts val="623"/>
              </a:spcBef>
            </a:pPr>
            <a:r>
              <a:rPr lang="en-US" sz="1500" kern="0" spc="-60" dirty="0">
                <a:solidFill>
                  <a:srgbClr val="000000">
                    <a:alpha val="65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Performances optimisées pour les interactions</a:t>
            </a:r>
            <a:br>
              <a:rPr lang="en-US" sz="1500" kern="0" spc="-60" dirty="0">
                <a:solidFill>
                  <a:srgbClr val="000000">
                    <a:alpha val="65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</a:br>
            <a:r>
              <a:rPr lang="en-US" sz="1500" kern="0" spc="-60" dirty="0">
                <a:solidFill>
                  <a:srgbClr val="000000">
                    <a:alpha val="65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avec la base de données.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8625" y="411004"/>
            <a:ext cx="11334750" cy="47339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3727"/>
              </a:lnSpc>
            </a:pPr>
            <a:r>
              <a:rPr lang="en-US" sz="3750" kern="0" spc="-225" dirty="0">
                <a:solidFill>
                  <a:srgbClr val="333333"/>
                </a:solidFill>
                <a:latin typeface="Geist Semi Bold" pitchFamily="34" charset="0"/>
                <a:ea typeface="Geist Semi Bold" pitchFamily="34" charset="-122"/>
                <a:cs typeface="Geist Semi Bold" pitchFamily="34" charset="-120"/>
              </a:rPr>
              <a:t>Code Frontend: UI Réactive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28625" y="1034177"/>
            <a:ext cx="11334750" cy="282654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2226"/>
              </a:lnSpc>
              <a:spcBef>
                <a:spcPts val="1156"/>
              </a:spcBef>
            </a:pPr>
            <a:r>
              <a:rPr lang="en-US" sz="1650" kern="0" spc="-66" dirty="0">
                <a:solidFill>
                  <a:srgbClr val="000000">
                    <a:alpha val="65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Frontend Vue.js dynamique et performant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76250" y="2090738"/>
            <a:ext cx="3619500" cy="1919288"/>
          </a:xfrm>
          <a:prstGeom prst="rect">
            <a:avLst/>
          </a:prstGeom>
          <a:solidFill>
            <a:srgbClr val="38D8E6"/>
          </a:solidFill>
          <a:ln>
            <a:miter lim="800000"/>
          </a:ln>
        </p:spPr>
      </p:sp>
      <p:sp>
        <p:nvSpPr>
          <p:cNvPr id="5" name="Text 3"/>
          <p:cNvSpPr/>
          <p:nvPr/>
        </p:nvSpPr>
        <p:spPr>
          <a:xfrm>
            <a:off x="762000" y="2586990"/>
            <a:ext cx="3366374" cy="28122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2215"/>
              </a:lnSpc>
            </a:pPr>
            <a:r>
              <a:rPr lang="en-US" sz="1950" kern="0" spc="-58" dirty="0">
                <a:solidFill>
                  <a:srgbClr val="FFFFFF"/>
                </a:solidFill>
                <a:latin typeface="Geist Semi Bold" pitchFamily="34" charset="0"/>
                <a:ea typeface="Geist Semi Bold" pitchFamily="34" charset="-122"/>
                <a:cs typeface="Geist Semi Bold" pitchFamily="34" charset="-120"/>
              </a:rPr>
              <a:t>Gestion Socket.io dans Vue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62000" y="2944773"/>
            <a:ext cx="3238500" cy="770811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2023"/>
              </a:lnSpc>
              <a:spcBef>
                <a:spcPts val="591"/>
              </a:spcBef>
            </a:pPr>
            <a:r>
              <a:rPr lang="en-US" sz="1500" kern="0" spc="-60" dirty="0">
                <a:solidFill>
                  <a:srgbClr val="FFFFFF">
                    <a:alpha val="80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Exemple d'intégration de la</a:t>
            </a:r>
            <a:br>
              <a:rPr lang="en-US" sz="1500" kern="0" spc="-60" dirty="0">
                <a:solidFill>
                  <a:srgbClr val="FFFFFF">
                    <a:alpha val="80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</a:br>
            <a:r>
              <a:rPr lang="en-US" sz="1500" kern="0" spc="-60" dirty="0">
                <a:solidFill>
                  <a:srgbClr val="FFFFFF">
                    <a:alpha val="80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communication temps réel avec</a:t>
            </a:r>
            <a:br>
              <a:rPr lang="en-US" sz="1500" kern="0" spc="-60" dirty="0">
                <a:solidFill>
                  <a:srgbClr val="FFFFFF">
                    <a:alpha val="80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</a:br>
            <a:r>
              <a:rPr lang="en-US" sz="1500" kern="0" spc="-60" dirty="0">
                <a:solidFill>
                  <a:srgbClr val="FFFFFF">
                    <a:alpha val="80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Socket.io en utilisant Vue.js.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1976437" y="1733550"/>
            <a:ext cx="714375" cy="714375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AC2D1"/>
            </a:solidFill>
            <a:prstDash val="solid"/>
            <a:miter lim="800000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3635" y="1986090"/>
            <a:ext cx="361950" cy="20955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286250" y="2090738"/>
            <a:ext cx="3619500" cy="1919288"/>
          </a:xfrm>
          <a:prstGeom prst="rect">
            <a:avLst/>
          </a:prstGeom>
          <a:solidFill>
            <a:srgbClr val="4FC9E9"/>
          </a:solidFill>
          <a:ln>
            <a:miter lim="800000"/>
          </a:ln>
        </p:spPr>
      </p:sp>
      <p:sp>
        <p:nvSpPr>
          <p:cNvPr id="10" name="Text 7"/>
          <p:cNvSpPr/>
          <p:nvPr/>
        </p:nvSpPr>
        <p:spPr>
          <a:xfrm>
            <a:off x="4572000" y="2586990"/>
            <a:ext cx="3238500" cy="28122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2215"/>
              </a:lnSpc>
            </a:pPr>
            <a:r>
              <a:rPr lang="en-US" sz="1950" kern="0" spc="-58" dirty="0">
                <a:solidFill>
                  <a:srgbClr val="FFFFFF"/>
                </a:solidFill>
                <a:latin typeface="Geist Semi Bold" pitchFamily="34" charset="0"/>
                <a:ea typeface="Geist Semi Bold" pitchFamily="34" charset="-122"/>
                <a:cs typeface="Geist Semi Bold" pitchFamily="34" charset="-120"/>
              </a:rPr>
              <a:t>Vue 3 Composition API</a:t>
            </a: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4572000" y="2944773"/>
            <a:ext cx="3420428" cy="770811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2023"/>
              </a:lnSpc>
              <a:spcBef>
                <a:spcPts val="591"/>
              </a:spcBef>
            </a:pPr>
            <a:r>
              <a:rPr lang="en-US" sz="1500" kern="0" spc="-60" dirty="0">
                <a:solidFill>
                  <a:srgbClr val="FFFFFF">
                    <a:alpha val="80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Utilisation de la Composition API pour</a:t>
            </a:r>
            <a:br>
              <a:rPr lang="en-US" sz="1500" kern="0" spc="-60" dirty="0">
                <a:solidFill>
                  <a:srgbClr val="FFFFFF">
                    <a:alpha val="80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</a:br>
            <a:r>
              <a:rPr lang="en-US" sz="1500" kern="0" spc="-60" dirty="0">
                <a:solidFill>
                  <a:srgbClr val="FFFFFF">
                    <a:alpha val="80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une logique de composant plus flexible</a:t>
            </a:r>
            <a:br>
              <a:rPr lang="en-US" sz="1500" kern="0" spc="-60" dirty="0">
                <a:solidFill>
                  <a:srgbClr val="FFFFFF">
                    <a:alpha val="80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</a:br>
            <a:r>
              <a:rPr lang="en-US" sz="1500" kern="0" spc="-60" dirty="0">
                <a:solidFill>
                  <a:srgbClr val="FFFFFF">
                    <a:alpha val="80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et réutilisable.</a:t>
            </a:r>
            <a:endParaRPr lang="en-US" dirty="0"/>
          </a:p>
        </p:txBody>
      </p:sp>
      <p:sp>
        <p:nvSpPr>
          <p:cNvPr id="12" name="Shape 9"/>
          <p:cNvSpPr/>
          <p:nvPr/>
        </p:nvSpPr>
        <p:spPr>
          <a:xfrm>
            <a:off x="5786437" y="1733550"/>
            <a:ext cx="714375" cy="714375"/>
          </a:xfrm>
          <a:prstGeom prst="ellipse">
            <a:avLst/>
          </a:prstGeom>
          <a:solidFill>
            <a:srgbClr val="FFFFFF"/>
          </a:solidFill>
          <a:ln w="38100">
            <a:solidFill>
              <a:srgbClr val="22BBE3"/>
            </a:solidFill>
            <a:prstDash val="solid"/>
            <a:miter lim="800000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3635" y="1986090"/>
            <a:ext cx="361950" cy="20955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8096250" y="2090738"/>
            <a:ext cx="3619500" cy="1919288"/>
          </a:xfrm>
          <a:prstGeom prst="rect">
            <a:avLst/>
          </a:prstGeom>
          <a:solidFill>
            <a:srgbClr val="66BAEC"/>
          </a:solidFill>
          <a:ln>
            <a:miter lim="800000"/>
          </a:ln>
        </p:spPr>
      </p:sp>
      <p:sp>
        <p:nvSpPr>
          <p:cNvPr id="15" name="Text 11"/>
          <p:cNvSpPr/>
          <p:nvPr/>
        </p:nvSpPr>
        <p:spPr>
          <a:xfrm>
            <a:off x="8382000" y="2586990"/>
            <a:ext cx="3238500" cy="562451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2215"/>
              </a:lnSpc>
            </a:pPr>
            <a:r>
              <a:rPr lang="en-US" sz="1950" kern="0" spc="-58" dirty="0">
                <a:solidFill>
                  <a:srgbClr val="FFFFFF"/>
                </a:solidFill>
                <a:latin typeface="Geist Semi Bold" pitchFamily="34" charset="0"/>
                <a:ea typeface="Geist Semi Bold" pitchFamily="34" charset="-122"/>
                <a:cs typeface="Geist Semi Bold" pitchFamily="34" charset="-120"/>
              </a:rPr>
              <a:t>Pinia pour le State</a:t>
            </a:r>
            <a:br>
              <a:rPr lang="en-US" sz="1950" kern="0" spc="-58" dirty="0">
                <a:solidFill>
                  <a:srgbClr val="FFFFFF"/>
                </a:solidFill>
                <a:latin typeface="Geist Semi Bold" pitchFamily="34" charset="0"/>
                <a:ea typeface="Geist Semi Bold" pitchFamily="34" charset="-122"/>
                <a:cs typeface="Geist Semi Bold" pitchFamily="34" charset="-120"/>
              </a:rPr>
            </a:br>
            <a:r>
              <a:rPr lang="en-US" sz="1950" kern="0" spc="-58" dirty="0">
                <a:solidFill>
                  <a:srgbClr val="FFFFFF"/>
                </a:solidFill>
                <a:latin typeface="Geist Semi Bold" pitchFamily="34" charset="0"/>
                <a:ea typeface="Geist Semi Bold" pitchFamily="34" charset="-122"/>
                <a:cs typeface="Geist Semi Bold" pitchFamily="34" charset="-120"/>
              </a:rPr>
              <a:t>Management</a:t>
            </a:r>
            <a:endParaRPr lang="en-US" dirty="0"/>
          </a:p>
        </p:txBody>
      </p:sp>
      <p:sp>
        <p:nvSpPr>
          <p:cNvPr id="16" name="Text 12"/>
          <p:cNvSpPr/>
          <p:nvPr/>
        </p:nvSpPr>
        <p:spPr>
          <a:xfrm>
            <a:off x="8382000" y="3225998"/>
            <a:ext cx="3395543" cy="513874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2023"/>
              </a:lnSpc>
              <a:spcBef>
                <a:spcPts val="591"/>
              </a:spcBef>
            </a:pPr>
            <a:r>
              <a:rPr lang="en-US" sz="1500" kern="0" spc="-60" dirty="0">
                <a:solidFill>
                  <a:srgbClr val="FFFFFF">
                    <a:alpha val="80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Gestion centralisée et efficace de l'état</a:t>
            </a:r>
            <a:br>
              <a:rPr lang="en-US" sz="1500" kern="0" spc="-60" dirty="0">
                <a:solidFill>
                  <a:srgbClr val="FFFFFF">
                    <a:alpha val="80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</a:br>
            <a:r>
              <a:rPr lang="en-US" sz="1500" kern="0" spc="-60" dirty="0">
                <a:solidFill>
                  <a:srgbClr val="FFFFFF">
                    <a:alpha val="80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de l'application avec Pinia.</a:t>
            </a:r>
            <a:endParaRPr lang="en-US" dirty="0"/>
          </a:p>
        </p:txBody>
      </p:sp>
      <p:sp>
        <p:nvSpPr>
          <p:cNvPr id="17" name="Shape 13"/>
          <p:cNvSpPr/>
          <p:nvPr/>
        </p:nvSpPr>
        <p:spPr>
          <a:xfrm>
            <a:off x="9596437" y="1733550"/>
            <a:ext cx="714375" cy="714375"/>
          </a:xfrm>
          <a:prstGeom prst="ellipse">
            <a:avLst/>
          </a:prstGeom>
          <a:solidFill>
            <a:srgbClr val="FFFFFF"/>
          </a:solidFill>
          <a:ln w="38100">
            <a:solidFill>
              <a:srgbClr val="39A6E6"/>
            </a:solidFill>
            <a:prstDash val="solid"/>
            <a:miter lim="800000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8050" y="1919120"/>
            <a:ext cx="247650" cy="342900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476250" y="4462463"/>
            <a:ext cx="5524500" cy="1919288"/>
          </a:xfrm>
          <a:prstGeom prst="rect">
            <a:avLst/>
          </a:prstGeom>
          <a:solidFill>
            <a:srgbClr val="7CAAEE"/>
          </a:solidFill>
          <a:ln>
            <a:miter lim="800000"/>
          </a:ln>
        </p:spPr>
      </p:sp>
      <p:sp>
        <p:nvSpPr>
          <p:cNvPr id="20" name="Text 15"/>
          <p:cNvSpPr/>
          <p:nvPr/>
        </p:nvSpPr>
        <p:spPr>
          <a:xfrm>
            <a:off x="762000" y="4958715"/>
            <a:ext cx="5143500" cy="28122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2215"/>
              </a:lnSpc>
            </a:pPr>
            <a:r>
              <a:rPr lang="en-US" sz="1950" kern="0" spc="-58" dirty="0">
                <a:solidFill>
                  <a:srgbClr val="FFFFFF"/>
                </a:solidFill>
                <a:latin typeface="Geist Semi Bold" pitchFamily="34" charset="0"/>
                <a:ea typeface="Geist Semi Bold" pitchFamily="34" charset="-122"/>
                <a:cs typeface="Geist Semi Bold" pitchFamily="34" charset="-120"/>
              </a:rPr>
              <a:t>TailwindCSS pour le Styling</a:t>
            </a:r>
            <a:endParaRPr lang="en-US" dirty="0"/>
          </a:p>
        </p:txBody>
      </p:sp>
      <p:sp>
        <p:nvSpPr>
          <p:cNvPr id="21" name="Text 16"/>
          <p:cNvSpPr/>
          <p:nvPr/>
        </p:nvSpPr>
        <p:spPr>
          <a:xfrm>
            <a:off x="762000" y="5316498"/>
            <a:ext cx="5337454" cy="513874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2023"/>
              </a:lnSpc>
              <a:spcBef>
                <a:spcPts val="591"/>
              </a:spcBef>
            </a:pPr>
            <a:r>
              <a:rPr lang="en-US" sz="1500" kern="0" spc="-60" dirty="0">
                <a:solidFill>
                  <a:srgbClr val="FFFFFF">
                    <a:alpha val="80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Application d'un design moderne et réactif grâce aux classes</a:t>
            </a:r>
            <a:br>
              <a:rPr lang="en-US" sz="1500" kern="0" spc="-60" dirty="0">
                <a:solidFill>
                  <a:srgbClr val="FFFFFF">
                    <a:alpha val="80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</a:br>
            <a:r>
              <a:rPr lang="en-US" sz="1500" kern="0" spc="-60" dirty="0">
                <a:solidFill>
                  <a:srgbClr val="FFFFFF">
                    <a:alpha val="80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utilitaires de TailwindCSS.</a:t>
            </a:r>
            <a:endParaRPr lang="en-US" dirty="0"/>
          </a:p>
        </p:txBody>
      </p:sp>
      <p:sp>
        <p:nvSpPr>
          <p:cNvPr id="22" name="Shape 17"/>
          <p:cNvSpPr/>
          <p:nvPr/>
        </p:nvSpPr>
        <p:spPr>
          <a:xfrm>
            <a:off x="2928937" y="4105275"/>
            <a:ext cx="714375" cy="714375"/>
          </a:xfrm>
          <a:prstGeom prst="ellipse">
            <a:avLst/>
          </a:prstGeom>
          <a:solidFill>
            <a:srgbClr val="FFFFFF"/>
          </a:solidFill>
          <a:ln w="38100">
            <a:solidFill>
              <a:srgbClr val="4F8DE8"/>
            </a:solidFill>
            <a:prstDash val="solid"/>
            <a:miter lim="800000"/>
          </a:ln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40255" y="4302681"/>
            <a:ext cx="295275" cy="323850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6191250" y="4462463"/>
            <a:ext cx="5524500" cy="1919288"/>
          </a:xfrm>
          <a:prstGeom prst="rect">
            <a:avLst/>
          </a:prstGeom>
          <a:solidFill>
            <a:srgbClr val="939BF1"/>
          </a:solidFill>
          <a:ln>
            <a:miter lim="800000"/>
          </a:ln>
        </p:spPr>
      </p:sp>
      <p:sp>
        <p:nvSpPr>
          <p:cNvPr id="25" name="Text 19"/>
          <p:cNvSpPr/>
          <p:nvPr/>
        </p:nvSpPr>
        <p:spPr>
          <a:xfrm>
            <a:off x="6477000" y="4958715"/>
            <a:ext cx="5143500" cy="28122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2215"/>
              </a:lnSpc>
            </a:pPr>
            <a:r>
              <a:rPr lang="en-US" sz="1950" kern="0" spc="-58" dirty="0">
                <a:solidFill>
                  <a:srgbClr val="FFFFFF"/>
                </a:solidFill>
                <a:latin typeface="Geist Semi Bold" pitchFamily="34" charset="0"/>
                <a:ea typeface="Geist Semi Bold" pitchFamily="34" charset="-122"/>
                <a:cs typeface="Geist Semi Bold" pitchFamily="34" charset="-120"/>
              </a:rPr>
              <a:t>Plus de 14 Vues Développées</a:t>
            </a:r>
            <a:endParaRPr lang="en-US" dirty="0"/>
          </a:p>
        </p:txBody>
      </p:sp>
      <p:sp>
        <p:nvSpPr>
          <p:cNvPr id="26" name="Text 20"/>
          <p:cNvSpPr/>
          <p:nvPr/>
        </p:nvSpPr>
        <p:spPr>
          <a:xfrm>
            <a:off x="6477000" y="5316498"/>
            <a:ext cx="5143500" cy="513874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2023"/>
              </a:lnSpc>
              <a:spcBef>
                <a:spcPts val="591"/>
              </a:spcBef>
            </a:pPr>
            <a:r>
              <a:rPr lang="en-US" sz="1500" kern="0" spc="-60" dirty="0">
                <a:solidFill>
                  <a:srgbClr val="FFFFFF">
                    <a:alpha val="80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Conception et implémentation de plus de 14 interfaces</a:t>
            </a:r>
            <a:br>
              <a:rPr lang="en-US" sz="1500" kern="0" spc="-60" dirty="0">
                <a:solidFill>
                  <a:srgbClr val="FFFFFF">
                    <a:alpha val="80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</a:br>
            <a:r>
              <a:rPr lang="en-US" sz="1500" kern="0" spc="-60" dirty="0">
                <a:solidFill>
                  <a:srgbClr val="FFFFFF">
                    <a:alpha val="80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utilisateur distinctes.</a:t>
            </a:r>
            <a:endParaRPr lang="en-US" dirty="0"/>
          </a:p>
        </p:txBody>
      </p:sp>
      <p:sp>
        <p:nvSpPr>
          <p:cNvPr id="27" name="Shape 21"/>
          <p:cNvSpPr/>
          <p:nvPr/>
        </p:nvSpPr>
        <p:spPr>
          <a:xfrm>
            <a:off x="8643937" y="4105275"/>
            <a:ext cx="714375" cy="714375"/>
          </a:xfrm>
          <a:prstGeom prst="ellipse">
            <a:avLst/>
          </a:prstGeom>
          <a:solidFill>
            <a:srgbClr val="FFFFFF"/>
          </a:solidFill>
          <a:ln w="38100">
            <a:solidFill>
              <a:srgbClr val="6671EB"/>
            </a:solidFill>
            <a:prstDash val="solid"/>
            <a:miter lim="800000"/>
          </a:ln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70908" y="4336887"/>
            <a:ext cx="466725" cy="25717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" y="95250"/>
            <a:ext cx="4128249" cy="6667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miter lim="800000"/>
          </a:ln>
        </p:spPr>
      </p:sp>
      <p:pic>
        <p:nvPicPr>
          <p:cNvPr id="3" name="Image 0" descr="&lt;a href=&quot;https://unsplash.com/@guerrillabuzz?utm_source=beautifulai&amp;utm_medium=referral&quot; rel=&quot;noreferer, ,noopener&quot; target=&quot;_blank&quot;&gt;GuerrillaBuzz&lt;/a&gt; on &lt;a target=&quot;_blank&quot; href=&quot;https://unsplash.com/?utm_source=beautifulai&amp;utm_medium=referral&quot;&gt;Unsplash&lt;/a&gt;"/>
          <p:cNvPicPr>
            <a:picLocks noChangeAspect="1"/>
          </p:cNvPicPr>
          <p:nvPr/>
        </p:nvPicPr>
        <p:blipFill>
          <a:blip r:embed="rId3"/>
          <a:srcRect l="32586" r="32586"/>
          <a:stretch/>
        </p:blipFill>
        <p:spPr>
          <a:xfrm>
            <a:off x="95250" y="95250"/>
            <a:ext cx="4128249" cy="6667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99749" y="538639"/>
            <a:ext cx="6276975" cy="205502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l">
              <a:lnSpc>
                <a:spcPts val="1619"/>
              </a:lnSpc>
            </a:pPr>
            <a:r>
              <a:rPr lang="en-US" sz="1425" kern="0" spc="-43" dirty="0">
                <a:solidFill>
                  <a:srgbClr val="48DC92"/>
                </a:solidFill>
                <a:latin typeface="Geist Semi Bold" pitchFamily="34" charset="0"/>
                <a:ea typeface="Geist Semi Bold" pitchFamily="34" charset="-122"/>
                <a:cs typeface="Geist Semi Bold" pitchFamily="34" charset="-120"/>
              </a:rPr>
              <a:t>Diagramme et Tables Principales</a:t>
            </a: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4699749" y="1004649"/>
            <a:ext cx="6614284" cy="449699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l">
              <a:lnSpc>
                <a:spcPts val="3541"/>
              </a:lnSpc>
              <a:spcBef>
                <a:spcPts val="2010"/>
              </a:spcBef>
            </a:pPr>
            <a:r>
              <a:rPr lang="en-US" sz="3563" kern="0" spc="-214" dirty="0">
                <a:solidFill>
                  <a:srgbClr val="333333"/>
                </a:solidFill>
                <a:latin typeface="Geist Semi Bold" pitchFamily="34" charset="0"/>
                <a:ea typeface="Geist Semi Bold" pitchFamily="34" charset="-122"/>
                <a:cs typeface="Geist Semi Bold" pitchFamily="34" charset="-120"/>
              </a:rPr>
              <a:t>Schéma de la Base de Données</a:t>
            </a: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4699749" y="1632228"/>
            <a:ext cx="6276975" cy="246697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l">
              <a:lnSpc>
                <a:spcPts val="1943"/>
              </a:lnSpc>
              <a:spcBef>
                <a:spcPts val="1373"/>
              </a:spcBef>
            </a:pPr>
            <a:r>
              <a:rPr lang="en-US" sz="1710" kern="0" spc="-51" dirty="0">
                <a:solidFill>
                  <a:srgbClr val="333333"/>
                </a:solidFill>
                <a:latin typeface="Geist Semi Bold" pitchFamily="34" charset="0"/>
                <a:ea typeface="Geist Semi Bold" pitchFamily="34" charset="-122"/>
                <a:cs typeface="Geist Semi Bold" pitchFamily="34" charset="-120"/>
              </a:rPr>
              <a:t>Diagramme</a:t>
            </a: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4699749" y="2040374"/>
            <a:ext cx="6657975" cy="26848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l">
              <a:lnSpc>
                <a:spcPts val="2115"/>
              </a:lnSpc>
              <a:spcBef>
                <a:spcPts val="1246"/>
              </a:spcBef>
            </a:pPr>
            <a:r>
              <a:rPr lang="en-US" sz="1567" kern="0" spc="-63" dirty="0">
                <a:solidFill>
                  <a:srgbClr val="000000">
                    <a:alpha val="65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[Diagramme : Relations entre Users, Guilds, Channels, Messages, Games...]</a:t>
            </a: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4699749" y="2488644"/>
            <a:ext cx="6276975" cy="246697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l">
              <a:lnSpc>
                <a:spcPts val="1943"/>
              </a:lnSpc>
              <a:spcBef>
                <a:spcPts val="1387"/>
              </a:spcBef>
            </a:pPr>
            <a:r>
              <a:rPr lang="en-US" sz="1710" kern="0" spc="-51" dirty="0">
                <a:solidFill>
                  <a:srgbClr val="333333"/>
                </a:solidFill>
                <a:latin typeface="Geist Semi Bold" pitchFamily="34" charset="0"/>
                <a:ea typeface="Geist Semi Bold" pitchFamily="34" charset="-122"/>
                <a:cs typeface="Geist Semi Bold" pitchFamily="34" charset="-120"/>
              </a:rPr>
              <a:t>Tables Principales</a:t>
            </a: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4699749" y="2954179"/>
            <a:ext cx="6276975" cy="3368159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marL="241300" indent="-241300" algn="l">
              <a:lnSpc>
                <a:spcPts val="1781"/>
              </a:lnSpc>
              <a:spcBef>
                <a:spcPts val="1689"/>
              </a:spcBef>
              <a:buSzPct val="100000"/>
              <a:buChar char="•"/>
            </a:pPr>
            <a:r>
              <a:rPr lang="en-US" sz="1567" kern="0" spc="-47" dirty="0">
                <a:solidFill>
                  <a:srgbClr val="333333"/>
                </a:solidFill>
                <a:latin typeface="Geist Semi Bold" pitchFamily="34" charset="0"/>
                <a:ea typeface="Geist Semi Bold" pitchFamily="34" charset="-122"/>
                <a:cs typeface="Geist Semi Bold" pitchFamily="34" charset="-120"/>
              </a:rPr>
              <a:t>users</a:t>
            </a:r>
            <a:endParaRPr lang="en-US" dirty="0"/>
          </a:p>
          <a:p>
            <a:pPr marL="241300" indent="-241300" algn="l">
              <a:lnSpc>
                <a:spcPts val="1781"/>
              </a:lnSpc>
              <a:spcBef>
                <a:spcPts val="1720"/>
              </a:spcBef>
              <a:buSzPct val="100000"/>
              <a:buChar char="•"/>
            </a:pPr>
            <a:r>
              <a:rPr lang="en-US" sz="1567" kern="0" spc="-47" dirty="0">
                <a:solidFill>
                  <a:srgbClr val="333333"/>
                </a:solidFill>
                <a:latin typeface="Geist Semi Bold" pitchFamily="34" charset="0"/>
                <a:ea typeface="Geist Semi Bold" pitchFamily="34" charset="-122"/>
                <a:cs typeface="Geist Semi Bold" pitchFamily="34" charset="-120"/>
              </a:rPr>
              <a:t>guilds</a:t>
            </a:r>
            <a:endParaRPr lang="en-US" dirty="0"/>
          </a:p>
          <a:p>
            <a:pPr marL="241300" indent="-241300" algn="l">
              <a:lnSpc>
                <a:spcPts val="1781"/>
              </a:lnSpc>
              <a:spcBef>
                <a:spcPts val="1720"/>
              </a:spcBef>
              <a:buSzPct val="100000"/>
              <a:buChar char="•"/>
            </a:pPr>
            <a:r>
              <a:rPr lang="en-US" sz="1567" kern="0" spc="-47" dirty="0">
                <a:solidFill>
                  <a:srgbClr val="333333"/>
                </a:solidFill>
                <a:latin typeface="Geist Semi Bold" pitchFamily="34" charset="0"/>
                <a:ea typeface="Geist Semi Bold" pitchFamily="34" charset="-122"/>
                <a:cs typeface="Geist Semi Bold" pitchFamily="34" charset="-120"/>
              </a:rPr>
              <a:t>channels</a:t>
            </a:r>
            <a:endParaRPr lang="en-US" dirty="0"/>
          </a:p>
          <a:p>
            <a:pPr marL="241300" indent="-241300" algn="l">
              <a:lnSpc>
                <a:spcPts val="1781"/>
              </a:lnSpc>
              <a:spcBef>
                <a:spcPts val="1720"/>
              </a:spcBef>
              <a:buSzPct val="100000"/>
              <a:buChar char="•"/>
            </a:pPr>
            <a:r>
              <a:rPr lang="en-US" sz="1567" kern="0" spc="-47" dirty="0">
                <a:solidFill>
                  <a:srgbClr val="333333"/>
                </a:solidFill>
                <a:latin typeface="Geist Semi Bold" pitchFamily="34" charset="0"/>
                <a:ea typeface="Geist Semi Bold" pitchFamily="34" charset="-122"/>
                <a:cs typeface="Geist Semi Bold" pitchFamily="34" charset="-120"/>
              </a:rPr>
              <a:t>messages</a:t>
            </a:r>
            <a:endParaRPr lang="en-US" dirty="0"/>
          </a:p>
          <a:p>
            <a:pPr marL="241300" indent="-241300" algn="l">
              <a:lnSpc>
                <a:spcPts val="1781"/>
              </a:lnSpc>
              <a:spcBef>
                <a:spcPts val="1720"/>
              </a:spcBef>
              <a:buSzPct val="100000"/>
              <a:buChar char="•"/>
            </a:pPr>
            <a:r>
              <a:rPr lang="en-US" sz="1567" kern="0" spc="-47" dirty="0">
                <a:solidFill>
                  <a:srgbClr val="333333"/>
                </a:solidFill>
                <a:latin typeface="Geist Semi Bold" pitchFamily="34" charset="0"/>
                <a:ea typeface="Geist Semi Bold" pitchFamily="34" charset="-122"/>
                <a:cs typeface="Geist Semi Bold" pitchFamily="34" charset="-120"/>
              </a:rPr>
              <a:t>games</a:t>
            </a:r>
            <a:endParaRPr lang="en-US" dirty="0"/>
          </a:p>
          <a:p>
            <a:pPr marL="241300" indent="-241300" algn="l">
              <a:lnSpc>
                <a:spcPts val="1781"/>
              </a:lnSpc>
              <a:spcBef>
                <a:spcPts val="1720"/>
              </a:spcBef>
              <a:buSzPct val="100000"/>
              <a:buChar char="•"/>
            </a:pPr>
            <a:r>
              <a:rPr lang="en-US" sz="1567" kern="0" spc="-47" dirty="0">
                <a:solidFill>
                  <a:srgbClr val="333333"/>
                </a:solidFill>
                <a:latin typeface="Geist Semi Bold" pitchFamily="34" charset="0"/>
                <a:ea typeface="Geist Semi Bold" pitchFamily="34" charset="-122"/>
                <a:cs typeface="Geist Semi Bold" pitchFamily="34" charset="-120"/>
              </a:rPr>
              <a:t>game_sessions</a:t>
            </a:r>
            <a:endParaRPr lang="en-US" dirty="0"/>
          </a:p>
          <a:p>
            <a:pPr marL="241300" indent="-241300" algn="l">
              <a:lnSpc>
                <a:spcPts val="1781"/>
              </a:lnSpc>
              <a:spcBef>
                <a:spcPts val="1720"/>
              </a:spcBef>
              <a:buSzPct val="100000"/>
              <a:buChar char="•"/>
            </a:pPr>
            <a:r>
              <a:rPr lang="en-US" sz="1567" kern="0" spc="-47" dirty="0">
                <a:solidFill>
                  <a:srgbClr val="333333"/>
                </a:solidFill>
                <a:latin typeface="Geist Semi Bold" pitchFamily="34" charset="0"/>
                <a:ea typeface="Geist Semi Bold" pitchFamily="34" charset="-122"/>
                <a:cs typeface="Geist Semi Bold" pitchFamily="34" charset="-120"/>
              </a:rPr>
              <a:t>tournaments</a:t>
            </a:r>
            <a:endParaRPr lang="en-US" dirty="0"/>
          </a:p>
          <a:p>
            <a:pPr marL="241300" indent="-241300" algn="l">
              <a:lnSpc>
                <a:spcPts val="1781"/>
              </a:lnSpc>
              <a:spcBef>
                <a:spcPts val="1720"/>
              </a:spcBef>
              <a:buSzPct val="100000"/>
              <a:buChar char="•"/>
            </a:pPr>
            <a:r>
              <a:rPr lang="en-US" sz="1567" kern="0" spc="-47" dirty="0">
                <a:solidFill>
                  <a:srgbClr val="333333"/>
                </a:solidFill>
                <a:latin typeface="Geist Semi Bold" pitchFamily="34" charset="0"/>
                <a:ea typeface="Geist Semi Bold" pitchFamily="34" charset="-122"/>
                <a:cs typeface="Geist Semi Bold" pitchFamily="34" charset="-120"/>
              </a:rPr>
              <a:t>quiz_scores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8625" y="411004"/>
            <a:ext cx="11334750" cy="47339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3727"/>
              </a:lnSpc>
            </a:pPr>
            <a:r>
              <a:rPr lang="en-US" sz="3750" kern="0" spc="-225" dirty="0">
                <a:solidFill>
                  <a:srgbClr val="333333"/>
                </a:solidFill>
                <a:latin typeface="Geist Semi Bold" pitchFamily="34" charset="0"/>
                <a:ea typeface="Geist Semi Bold" pitchFamily="34" charset="-122"/>
                <a:cs typeface="Geist Semi Bold" pitchFamily="34" charset="-120"/>
              </a:rPr>
              <a:t>Organisation et Méthodologie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28625" y="1034177"/>
            <a:ext cx="11334750" cy="282654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2226"/>
              </a:lnSpc>
              <a:spcBef>
                <a:spcPts val="1156"/>
              </a:spcBef>
            </a:pPr>
            <a:r>
              <a:rPr lang="en-US" sz="1650" kern="0" spc="-66" dirty="0">
                <a:solidFill>
                  <a:srgbClr val="000000">
                    <a:alpha val="65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Application Agile en 48 heures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76250" y="2819400"/>
            <a:ext cx="3619500" cy="2109788"/>
          </a:xfrm>
          <a:prstGeom prst="rect">
            <a:avLst/>
          </a:prstGeom>
          <a:solidFill>
            <a:srgbClr val="38D8E6"/>
          </a:solidFill>
          <a:ln>
            <a:miter lim="800000"/>
          </a:ln>
        </p:spPr>
      </p:sp>
      <p:sp>
        <p:nvSpPr>
          <p:cNvPr id="5" name="Text 3"/>
          <p:cNvSpPr/>
          <p:nvPr/>
        </p:nvSpPr>
        <p:spPr>
          <a:xfrm>
            <a:off x="762000" y="3315652"/>
            <a:ext cx="3238500" cy="28122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2215"/>
              </a:lnSpc>
            </a:pPr>
            <a:r>
              <a:rPr lang="en-US" sz="1950" kern="0" spc="-58" dirty="0">
                <a:solidFill>
                  <a:srgbClr val="FFFFFF"/>
                </a:solidFill>
                <a:latin typeface="Geist Semi Bold" pitchFamily="34" charset="0"/>
                <a:ea typeface="Geist Semi Bold" pitchFamily="34" charset="-122"/>
                <a:cs typeface="Geist Semi Bold" pitchFamily="34" charset="-120"/>
              </a:rPr>
              <a:t>Environnement Technique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62000" y="3673435"/>
            <a:ext cx="3238500" cy="256937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2023"/>
              </a:lnSpc>
              <a:spcBef>
                <a:spcPts val="591"/>
              </a:spcBef>
            </a:pPr>
            <a:r>
              <a:rPr lang="en-US" sz="1500" kern="0" spc="-60" dirty="0">
                <a:solidFill>
                  <a:srgbClr val="FFFFFF">
                    <a:alpha val="80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Utilisation de VSCode, Git et Docker.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1976437" y="2462213"/>
            <a:ext cx="714375" cy="714375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AC2D1"/>
            </a:solidFill>
            <a:prstDash val="solid"/>
            <a:miter lim="800000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3635" y="2714752"/>
            <a:ext cx="361950" cy="20955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286250" y="2819400"/>
            <a:ext cx="3619500" cy="2109788"/>
          </a:xfrm>
          <a:prstGeom prst="rect">
            <a:avLst/>
          </a:prstGeom>
          <a:solidFill>
            <a:srgbClr val="66BAEC"/>
          </a:solidFill>
          <a:ln>
            <a:miter lim="800000"/>
          </a:ln>
        </p:spPr>
      </p:sp>
      <p:sp>
        <p:nvSpPr>
          <p:cNvPr id="10" name="Text 7"/>
          <p:cNvSpPr/>
          <p:nvPr/>
        </p:nvSpPr>
        <p:spPr>
          <a:xfrm>
            <a:off x="4572000" y="3315652"/>
            <a:ext cx="3364229" cy="28122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2215"/>
              </a:lnSpc>
            </a:pPr>
            <a:r>
              <a:rPr lang="en-US" sz="1950" kern="0" spc="-58" dirty="0">
                <a:solidFill>
                  <a:srgbClr val="FFFFFF"/>
                </a:solidFill>
                <a:latin typeface="Geist Semi Bold" pitchFamily="34" charset="0"/>
                <a:ea typeface="Geist Semi Bold" pitchFamily="34" charset="-122"/>
                <a:cs typeface="Geist Semi Bold" pitchFamily="34" charset="-120"/>
              </a:rPr>
              <a:t>Déroulement du Hackathon</a:t>
            </a: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4572000" y="3673435"/>
            <a:ext cx="3238500" cy="102774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2023"/>
              </a:lnSpc>
              <a:spcBef>
                <a:spcPts val="591"/>
              </a:spcBef>
            </a:pPr>
            <a:r>
              <a:rPr lang="en-US" sz="1500" kern="0" spc="-60" dirty="0">
                <a:solidFill>
                  <a:srgbClr val="FFFFFF">
                    <a:alpha val="80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Jour 1: Architecture, configuration</a:t>
            </a:r>
            <a:br>
              <a:rPr lang="en-US" sz="1500" kern="0" spc="-60" dirty="0">
                <a:solidFill>
                  <a:srgbClr val="FFFFFF">
                    <a:alpha val="80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</a:br>
            <a:r>
              <a:rPr lang="en-US" sz="1500" kern="0" spc="-60" dirty="0">
                <a:solidFill>
                  <a:srgbClr val="FFFFFF">
                    <a:alpha val="80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initiale, authentification. Jour 2:</a:t>
            </a:r>
            <a:br>
              <a:rPr lang="en-US" sz="1500" kern="0" spc="-60" dirty="0">
                <a:solidFill>
                  <a:srgbClr val="FFFFFF">
                    <a:alpha val="80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</a:br>
            <a:r>
              <a:rPr lang="en-US" sz="1500" kern="0" spc="-60" dirty="0">
                <a:solidFill>
                  <a:srgbClr val="FFFFFF">
                    <a:alpha val="80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Développement des fonctionnalités,</a:t>
            </a:r>
            <a:br>
              <a:rPr lang="en-US" sz="1500" kern="0" spc="-60" dirty="0">
                <a:solidFill>
                  <a:srgbClr val="FFFFFF">
                    <a:alpha val="80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</a:br>
            <a:r>
              <a:rPr lang="en-US" sz="1500" kern="0" spc="-60" dirty="0">
                <a:solidFill>
                  <a:srgbClr val="FFFFFF">
                    <a:alpha val="80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intégration des jeux, finalisation.</a:t>
            </a:r>
            <a:endParaRPr lang="en-US" dirty="0"/>
          </a:p>
        </p:txBody>
      </p:sp>
      <p:sp>
        <p:nvSpPr>
          <p:cNvPr id="12" name="Shape 9"/>
          <p:cNvSpPr/>
          <p:nvPr/>
        </p:nvSpPr>
        <p:spPr>
          <a:xfrm>
            <a:off x="5786437" y="2462213"/>
            <a:ext cx="714375" cy="714375"/>
          </a:xfrm>
          <a:prstGeom prst="ellipse">
            <a:avLst/>
          </a:prstGeom>
          <a:solidFill>
            <a:srgbClr val="FFFFFF"/>
          </a:solidFill>
          <a:ln w="38100">
            <a:solidFill>
              <a:srgbClr val="39A6E6"/>
            </a:solidFill>
            <a:prstDash val="solid"/>
            <a:miter lim="800000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1307" y="2698012"/>
            <a:ext cx="285750" cy="24765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8096250" y="2819400"/>
            <a:ext cx="3619500" cy="2109788"/>
          </a:xfrm>
          <a:prstGeom prst="rect">
            <a:avLst/>
          </a:prstGeom>
          <a:solidFill>
            <a:srgbClr val="939BF1"/>
          </a:solidFill>
          <a:ln>
            <a:miter lim="800000"/>
          </a:ln>
        </p:spPr>
      </p:sp>
      <p:sp>
        <p:nvSpPr>
          <p:cNvPr id="15" name="Text 11"/>
          <p:cNvSpPr/>
          <p:nvPr/>
        </p:nvSpPr>
        <p:spPr>
          <a:xfrm>
            <a:off x="8382000" y="3315652"/>
            <a:ext cx="3238500" cy="28122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2215"/>
              </a:lnSpc>
            </a:pPr>
            <a:r>
              <a:rPr lang="en-US" sz="1950" kern="0" spc="-58" dirty="0">
                <a:solidFill>
                  <a:srgbClr val="FFFFFF"/>
                </a:solidFill>
                <a:latin typeface="Geist Semi Bold" pitchFamily="34" charset="0"/>
                <a:ea typeface="Geist Semi Bold" pitchFamily="34" charset="-122"/>
                <a:cs typeface="Geist Semi Bold" pitchFamily="34" charset="-120"/>
              </a:rPr>
              <a:t>Collaboration Continue</a:t>
            </a:r>
            <a:endParaRPr lang="en-US" dirty="0"/>
          </a:p>
        </p:txBody>
      </p:sp>
      <p:sp>
        <p:nvSpPr>
          <p:cNvPr id="16" name="Text 12"/>
          <p:cNvSpPr/>
          <p:nvPr/>
        </p:nvSpPr>
        <p:spPr>
          <a:xfrm>
            <a:off x="8382000" y="3673435"/>
            <a:ext cx="3451384" cy="770811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2023"/>
              </a:lnSpc>
              <a:spcBef>
                <a:spcPts val="591"/>
              </a:spcBef>
            </a:pPr>
            <a:r>
              <a:rPr lang="en-US" sz="1500" kern="0" spc="-60" dirty="0">
                <a:solidFill>
                  <a:srgbClr val="FFFFFF">
                    <a:alpha val="80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Standups quotidiens, gestion de</a:t>
            </a:r>
            <a:br>
              <a:rPr lang="en-US" sz="1500" kern="0" spc="-60" dirty="0">
                <a:solidFill>
                  <a:srgbClr val="FFFFFF">
                    <a:alpha val="80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</a:br>
            <a:r>
              <a:rPr lang="en-US" sz="1500" kern="0" spc="-60" dirty="0">
                <a:solidFill>
                  <a:srgbClr val="FFFFFF">
                    <a:alpha val="80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versions avec Git, et validation par tests</a:t>
            </a:r>
            <a:br>
              <a:rPr lang="en-US" sz="1500" kern="0" spc="-60" dirty="0">
                <a:solidFill>
                  <a:srgbClr val="FFFFFF">
                    <a:alpha val="80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</a:br>
            <a:r>
              <a:rPr lang="en-US" sz="1500" kern="0" spc="-60" dirty="0">
                <a:solidFill>
                  <a:srgbClr val="FFFFFF">
                    <a:alpha val="80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croisés pour assurer la qualité.</a:t>
            </a:r>
            <a:endParaRPr lang="en-US" dirty="0"/>
          </a:p>
        </p:txBody>
      </p:sp>
      <p:sp>
        <p:nvSpPr>
          <p:cNvPr id="17" name="Shape 13"/>
          <p:cNvSpPr/>
          <p:nvPr/>
        </p:nvSpPr>
        <p:spPr>
          <a:xfrm>
            <a:off x="9596437" y="2462213"/>
            <a:ext cx="714375" cy="714375"/>
          </a:xfrm>
          <a:prstGeom prst="ellipse">
            <a:avLst/>
          </a:prstGeom>
          <a:solidFill>
            <a:srgbClr val="FFFFFF"/>
          </a:solidFill>
          <a:ln w="38100">
            <a:solidFill>
              <a:srgbClr val="6671EB"/>
            </a:solidFill>
            <a:prstDash val="solid"/>
            <a:miter lim="800000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90379" y="2618482"/>
            <a:ext cx="333375" cy="4000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8625" y="411004"/>
            <a:ext cx="11334750" cy="47339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3727"/>
              </a:lnSpc>
            </a:pPr>
            <a:r>
              <a:rPr lang="en-US" sz="3750" kern="0" spc="-225" dirty="0">
                <a:solidFill>
                  <a:srgbClr val="333333"/>
                </a:solidFill>
                <a:latin typeface="Geist Semi Bold" pitchFamily="34" charset="0"/>
                <a:ea typeface="Geist Semi Bold" pitchFamily="34" charset="-122"/>
                <a:cs typeface="Geist Semi Bold" pitchFamily="34" charset="-120"/>
              </a:rPr>
              <a:t>Démonstration Live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28625" y="1034177"/>
            <a:ext cx="11334750" cy="282654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2226"/>
              </a:lnSpc>
              <a:spcBef>
                <a:spcPts val="1156"/>
              </a:spcBef>
            </a:pPr>
            <a:r>
              <a:rPr lang="en-US" sz="1650" kern="0" spc="-66" dirty="0">
                <a:solidFill>
                  <a:srgbClr val="000000">
                    <a:alpha val="65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Découvrons l'application en action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76250" y="1733550"/>
            <a:ext cx="5524500" cy="3962400"/>
          </a:xfrm>
          <a:prstGeom prst="rect">
            <a:avLst/>
          </a:prstGeom>
          <a:solidFill>
            <a:srgbClr val="48DC92"/>
          </a:solidFill>
          <a:ln>
            <a:miter lim="800000"/>
          </a:ln>
        </p:spPr>
      </p:sp>
      <p:pic>
        <p:nvPicPr>
          <p:cNvPr id="5" name="Image 0"/>
          <p:cNvPicPr>
            <a:picLocks noChangeAspect="1"/>
          </p:cNvPicPr>
          <p:nvPr/>
        </p:nvPicPr>
        <p:blipFill>
          <a:blip r:embed="rId3"/>
          <a:srcRect l="12176" r="12176"/>
          <a:stretch/>
        </p:blipFill>
        <p:spPr>
          <a:xfrm>
            <a:off x="476250" y="1733550"/>
            <a:ext cx="5524500" cy="3962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28625" y="5838944"/>
            <a:ext cx="5619750" cy="259675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2045"/>
              </a:lnSpc>
            </a:pPr>
            <a:r>
              <a:rPr lang="en-US" sz="1800" kern="0" spc="-54" dirty="0">
                <a:solidFill>
                  <a:srgbClr val="333333"/>
                </a:solidFill>
                <a:latin typeface="Geist Semi Bold" pitchFamily="34" charset="0"/>
                <a:ea typeface="Geist Semi Bold" pitchFamily="34" charset="-122"/>
                <a:cs typeface="Geist Semi Bold" pitchFamily="34" charset="-120"/>
              </a:rPr>
              <a:t>Landing Page</a:t>
            </a: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428625" y="6179344"/>
            <a:ext cx="5619750" cy="256937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2023"/>
              </a:lnSpc>
              <a:spcBef>
                <a:spcPts val="623"/>
              </a:spcBef>
            </a:pPr>
            <a:r>
              <a:rPr lang="en-US" sz="1500" kern="0" spc="-60" dirty="0">
                <a:solidFill>
                  <a:srgbClr val="000000">
                    <a:alpha val="65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Aperçu de la page d'accueil de l'application.</a:t>
            </a:r>
            <a:endParaRPr lang="en-US" dirty="0"/>
          </a:p>
        </p:txBody>
      </p:sp>
      <p:sp>
        <p:nvSpPr>
          <p:cNvPr id="8" name="Shape 5"/>
          <p:cNvSpPr/>
          <p:nvPr/>
        </p:nvSpPr>
        <p:spPr>
          <a:xfrm>
            <a:off x="6191250" y="1733550"/>
            <a:ext cx="5524500" cy="3962400"/>
          </a:xfrm>
          <a:prstGeom prst="rect">
            <a:avLst/>
          </a:prstGeom>
          <a:solidFill>
            <a:srgbClr val="48DC92"/>
          </a:solidFill>
          <a:ln>
            <a:miter lim="800000"/>
          </a:ln>
        </p:spPr>
      </p:sp>
      <p:pic>
        <p:nvPicPr>
          <p:cNvPr id="9" name="Image 1"/>
          <p:cNvPicPr>
            <a:picLocks noChangeAspect="1"/>
          </p:cNvPicPr>
          <p:nvPr/>
        </p:nvPicPr>
        <p:blipFill>
          <a:blip r:embed="rId4"/>
          <a:srcRect l="12176" r="12176"/>
          <a:stretch/>
        </p:blipFill>
        <p:spPr>
          <a:xfrm>
            <a:off x="6191250" y="1733550"/>
            <a:ext cx="5524500" cy="39624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143625" y="5838944"/>
            <a:ext cx="5619750" cy="259675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2045"/>
              </a:lnSpc>
            </a:pPr>
            <a:r>
              <a:rPr lang="en-US" sz="1800" kern="0" spc="-54" dirty="0">
                <a:solidFill>
                  <a:srgbClr val="333333"/>
                </a:solidFill>
                <a:latin typeface="Geist Semi Bold" pitchFamily="34" charset="0"/>
                <a:ea typeface="Geist Semi Bold" pitchFamily="34" charset="-122"/>
                <a:cs typeface="Geist Semi Bold" pitchFamily="34" charset="-120"/>
              </a:rPr>
              <a:t>Interface Chat</a:t>
            </a: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6143625" y="6179344"/>
            <a:ext cx="5619750" cy="256937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2023"/>
              </a:lnSpc>
              <a:spcBef>
                <a:spcPts val="623"/>
              </a:spcBef>
            </a:pPr>
            <a:r>
              <a:rPr lang="en-US" sz="1500" kern="0" spc="-60" dirty="0">
                <a:solidFill>
                  <a:srgbClr val="000000">
                    <a:alpha val="65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Visualisation de la zone de conversation principale.</a:t>
            </a: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8625" y="411004"/>
            <a:ext cx="11334750" cy="47339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3727"/>
              </a:lnSpc>
            </a:pPr>
            <a:r>
              <a:rPr lang="en-US" sz="3750" kern="0" spc="-225" dirty="0">
                <a:solidFill>
                  <a:srgbClr val="333333"/>
                </a:solidFill>
                <a:latin typeface="Geist Semi Bold" pitchFamily="34" charset="0"/>
                <a:ea typeface="Geist Semi Bold" pitchFamily="34" charset="-122"/>
                <a:cs typeface="Geist Semi Bold" pitchFamily="34" charset="-120"/>
              </a:rPr>
              <a:t>Défis Techniques Relevés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28625" y="1034177"/>
            <a:ext cx="11334750" cy="282654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2226"/>
              </a:lnSpc>
              <a:spcBef>
                <a:spcPts val="1156"/>
              </a:spcBef>
            </a:pPr>
            <a:r>
              <a:rPr lang="en-US" sz="1650" kern="0" spc="-66" dirty="0">
                <a:solidFill>
                  <a:srgbClr val="000000">
                    <a:alpha val="65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Surmonter les obstacles pour une plateforme performante.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952500" y="2025015"/>
            <a:ext cx="5096471" cy="3350062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marL="241300" indent="-241300" algn="l">
              <a:lnSpc>
                <a:spcPts val="2215"/>
              </a:lnSpc>
              <a:buSzPct val="100000"/>
              <a:buChar char="•"/>
            </a:pPr>
            <a:r>
              <a:rPr lang="en-US" sz="1950" kern="0" spc="-58" dirty="0">
                <a:solidFill>
                  <a:srgbClr val="333333"/>
                </a:solidFill>
                <a:latin typeface="Geist Semi Bold" pitchFamily="34" charset="0"/>
                <a:ea typeface="Geist Semi Bold" pitchFamily="34" charset="-122"/>
                <a:cs typeface="Geist Semi Bold" pitchFamily="34" charset="-120"/>
              </a:rPr>
              <a:t>Synchronisation Jeu</a:t>
            </a:r>
            <a:endParaRPr lang="en-US" dirty="0"/>
          </a:p>
          <a:p>
            <a:pPr marL="241300" lvl="1" indent="0" algn="l">
              <a:lnSpc>
                <a:spcPts val="2023"/>
              </a:lnSpc>
              <a:spcBef>
                <a:spcPts val="444"/>
              </a:spcBef>
              <a:buNone/>
            </a:pPr>
            <a:r>
              <a:rPr lang="en-US" sz="1500" kern="0" spc="-60" dirty="0">
                <a:solidFill>
                  <a:srgbClr val="000000">
                    <a:alpha val="65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Mise en place d'une boucle de jeu serveur avec</a:t>
            </a:r>
            <a:br>
              <a:rPr lang="en-US" sz="1500" kern="0" spc="-60" dirty="0">
                <a:solidFill>
                  <a:srgbClr val="000000">
                    <a:alpha val="65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</a:br>
            <a:r>
              <a:rPr lang="en-US" sz="1500" kern="0" spc="-60" dirty="0">
                <a:solidFill>
                  <a:srgbClr val="000000">
                    <a:alpha val="65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interpolation client pour une expérience fluide.</a:t>
            </a:r>
            <a:endParaRPr lang="en-US" dirty="0"/>
          </a:p>
          <a:p>
            <a:pPr marL="241300" indent="-241300" algn="l">
              <a:lnSpc>
                <a:spcPts val="2215"/>
              </a:lnSpc>
              <a:spcBef>
                <a:spcPts val="2065"/>
              </a:spcBef>
              <a:buSzPct val="100000"/>
              <a:buChar char="•"/>
            </a:pPr>
            <a:r>
              <a:rPr lang="en-US" sz="1950" kern="0" spc="-58" dirty="0">
                <a:solidFill>
                  <a:srgbClr val="333333"/>
                </a:solidFill>
                <a:latin typeface="Geist Semi Bold" pitchFamily="34" charset="0"/>
                <a:ea typeface="Geist Semi Bold" pitchFamily="34" charset="-122"/>
                <a:cs typeface="Geist Semi Bold" pitchFamily="34" charset="-120"/>
              </a:rPr>
              <a:t>Authentification Temps Réel</a:t>
            </a:r>
            <a:endParaRPr lang="en-US" dirty="0"/>
          </a:p>
          <a:p>
            <a:pPr marL="241300" lvl="1" indent="0" algn="l">
              <a:lnSpc>
                <a:spcPts val="2023"/>
              </a:lnSpc>
              <a:spcBef>
                <a:spcPts val="444"/>
              </a:spcBef>
              <a:buNone/>
            </a:pPr>
            <a:r>
              <a:rPr lang="en-US" sz="1500" kern="0" spc="-60" dirty="0">
                <a:solidFill>
                  <a:srgbClr val="000000">
                    <a:alpha val="65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Utilisation d'un middleware JWT combiné à un handshake</a:t>
            </a:r>
            <a:br>
              <a:rPr lang="en-US" sz="1500" kern="0" spc="-60" dirty="0">
                <a:solidFill>
                  <a:srgbClr val="000000">
                    <a:alpha val="65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</a:br>
            <a:r>
              <a:rPr lang="en-US" sz="1500" kern="0" spc="-60" dirty="0">
                <a:solidFill>
                  <a:srgbClr val="000000">
                    <a:alpha val="65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Socket.io pour une authentification sécurisée et</a:t>
            </a:r>
            <a:br>
              <a:rPr lang="en-US" sz="1500" kern="0" spc="-60" dirty="0">
                <a:solidFill>
                  <a:srgbClr val="000000">
                    <a:alpha val="65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</a:br>
            <a:r>
              <a:rPr lang="en-US" sz="1500" kern="0" spc="-60" dirty="0">
                <a:solidFill>
                  <a:srgbClr val="000000">
                    <a:alpha val="65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instantanée.</a:t>
            </a:r>
            <a:endParaRPr lang="en-US" dirty="0"/>
          </a:p>
          <a:p>
            <a:pPr marL="241300" indent="-241300" algn="l">
              <a:lnSpc>
                <a:spcPts val="2215"/>
              </a:lnSpc>
              <a:spcBef>
                <a:spcPts val="2065"/>
              </a:spcBef>
              <a:buSzPct val="100000"/>
              <a:buChar char="•"/>
            </a:pPr>
            <a:r>
              <a:rPr lang="en-US" sz="1950" kern="0" spc="-58" dirty="0">
                <a:solidFill>
                  <a:srgbClr val="333333"/>
                </a:solidFill>
                <a:latin typeface="Geist Semi Bold" pitchFamily="34" charset="0"/>
                <a:ea typeface="Geist Semi Bold" pitchFamily="34" charset="-122"/>
                <a:cs typeface="Geist Semi Bold" pitchFamily="34" charset="-120"/>
              </a:rPr>
              <a:t>Gestion d'État Multijoueur</a:t>
            </a:r>
            <a:endParaRPr lang="en-US" dirty="0"/>
          </a:p>
          <a:p>
            <a:pPr marL="241300" lvl="1" indent="0" algn="l">
              <a:lnSpc>
                <a:spcPts val="2023"/>
              </a:lnSpc>
              <a:spcBef>
                <a:spcPts val="444"/>
              </a:spcBef>
              <a:buNone/>
            </a:pPr>
            <a:r>
              <a:rPr lang="en-US" sz="1500" kern="0" spc="-60" dirty="0">
                <a:solidFill>
                  <a:srgbClr val="000000">
                    <a:alpha val="65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Implémentation de rooms Socket.io et d'un état serveur</a:t>
            </a:r>
            <a:br>
              <a:rPr lang="en-US" sz="1500" kern="0" spc="-60" dirty="0">
                <a:solidFill>
                  <a:srgbClr val="000000">
                    <a:alpha val="65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</a:br>
            <a:r>
              <a:rPr lang="en-US" sz="1500" kern="0" spc="-60" dirty="0">
                <a:solidFill>
                  <a:srgbClr val="000000">
                    <a:alpha val="65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pour une gestion efficace des parties multijoueurs.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286500" y="2025015"/>
            <a:ext cx="5048250" cy="222980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marL="241300" indent="-241300" algn="l">
              <a:lnSpc>
                <a:spcPts val="2215"/>
              </a:lnSpc>
              <a:buSzPct val="100000"/>
              <a:buChar char="•"/>
            </a:pPr>
            <a:r>
              <a:rPr lang="en-US" sz="1950" kern="0" spc="-58" dirty="0">
                <a:solidFill>
                  <a:srgbClr val="333333"/>
                </a:solidFill>
                <a:latin typeface="Geist Semi Bold" pitchFamily="34" charset="0"/>
                <a:ea typeface="Geist Semi Bold" pitchFamily="34" charset="-122"/>
                <a:cs typeface="Geist Semi Bold" pitchFamily="34" charset="-120"/>
              </a:rPr>
              <a:t>Optimisation Latence Réseau</a:t>
            </a:r>
            <a:endParaRPr lang="en-US" dirty="0"/>
          </a:p>
          <a:p>
            <a:pPr marL="241300" lvl="1" indent="0" algn="l">
              <a:lnSpc>
                <a:spcPts val="2023"/>
              </a:lnSpc>
              <a:spcBef>
                <a:spcPts val="444"/>
              </a:spcBef>
              <a:buNone/>
            </a:pPr>
            <a:r>
              <a:rPr lang="en-US" sz="1500" kern="0" spc="-60" dirty="0">
                <a:solidFill>
                  <a:srgbClr val="000000">
                    <a:alpha val="65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Mise en place d'un pool de connexions à la base de</a:t>
            </a:r>
            <a:br>
              <a:rPr lang="en-US" sz="1500" kern="0" spc="-60" dirty="0">
                <a:solidFill>
                  <a:srgbClr val="000000">
                    <a:alpha val="65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</a:br>
            <a:r>
              <a:rPr lang="en-US" sz="1500" kern="0" spc="-60" dirty="0">
                <a:solidFill>
                  <a:srgbClr val="000000">
                    <a:alpha val="65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données et d'une interface utilisateur optimiste pour</a:t>
            </a:r>
            <a:br>
              <a:rPr lang="en-US" sz="1500" kern="0" spc="-60" dirty="0">
                <a:solidFill>
                  <a:srgbClr val="000000">
                    <a:alpha val="65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</a:br>
            <a:r>
              <a:rPr lang="en-US" sz="1500" kern="0" spc="-60" dirty="0">
                <a:solidFill>
                  <a:srgbClr val="000000">
                    <a:alpha val="65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réduire la latence.</a:t>
            </a:r>
            <a:endParaRPr lang="en-US" dirty="0"/>
          </a:p>
          <a:p>
            <a:pPr marL="241300" indent="-241300" algn="l">
              <a:lnSpc>
                <a:spcPts val="2215"/>
              </a:lnSpc>
              <a:spcBef>
                <a:spcPts val="2065"/>
              </a:spcBef>
              <a:buSzPct val="100000"/>
              <a:buChar char="•"/>
            </a:pPr>
            <a:r>
              <a:rPr lang="en-US" sz="1950" kern="0" spc="-58" dirty="0">
                <a:solidFill>
                  <a:srgbClr val="333333"/>
                </a:solidFill>
                <a:latin typeface="Geist Semi Bold" pitchFamily="34" charset="0"/>
                <a:ea typeface="Geist Semi Bold" pitchFamily="34" charset="-122"/>
                <a:cs typeface="Geist Semi Bold" pitchFamily="34" charset="-120"/>
              </a:rPr>
              <a:t>Déploiement Rapide</a:t>
            </a:r>
            <a:endParaRPr lang="en-US" dirty="0"/>
          </a:p>
          <a:p>
            <a:pPr marL="241300" lvl="1" indent="0" algn="l">
              <a:lnSpc>
                <a:spcPts val="2023"/>
              </a:lnSpc>
              <a:spcBef>
                <a:spcPts val="444"/>
              </a:spcBef>
              <a:buNone/>
            </a:pPr>
            <a:r>
              <a:rPr lang="en-US" sz="1500" kern="0" spc="-60" dirty="0">
                <a:solidFill>
                  <a:srgbClr val="000000">
                    <a:alpha val="65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Automatisation du déploiement avec Docker Compose et</a:t>
            </a:r>
            <a:br>
              <a:rPr lang="en-US" sz="1500" kern="0" spc="-60" dirty="0">
                <a:solidFill>
                  <a:srgbClr val="000000">
                    <a:alpha val="65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</a:br>
            <a:r>
              <a:rPr lang="en-US" sz="1500" kern="0" spc="-60" dirty="0">
                <a:solidFill>
                  <a:srgbClr val="000000">
                    <a:alpha val="65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GitHub Actions pour des mises en production rapides.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0" y="6134100"/>
            <a:ext cx="12192000" cy="723900"/>
          </a:xfrm>
          <a:prstGeom prst="rect">
            <a:avLst/>
          </a:prstGeom>
          <a:solidFill>
            <a:srgbClr val="F2F2F2"/>
          </a:solidFill>
          <a:ln>
            <a:miter lim="800000"/>
          </a:ln>
        </p:spPr>
      </p:sp>
      <p:sp>
        <p:nvSpPr>
          <p:cNvPr id="7" name="Text 5"/>
          <p:cNvSpPr/>
          <p:nvPr/>
        </p:nvSpPr>
        <p:spPr>
          <a:xfrm>
            <a:off x="2700338" y="6376273"/>
            <a:ext cx="6791325" cy="23800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ctr">
              <a:lnSpc>
                <a:spcPts val="1874"/>
              </a:lnSpc>
            </a:pPr>
            <a:r>
              <a:rPr lang="en-US" sz="1650" kern="0" spc="-49" dirty="0">
                <a:solidFill>
                  <a:srgbClr val="333333"/>
                </a:solidFill>
                <a:latin typeface="Geist Semi Bold" pitchFamily="34" charset="0"/>
                <a:ea typeface="Geist Semi Bold" pitchFamily="34" charset="-122"/>
                <a:cs typeface="Geist Semi Bold" pitchFamily="34" charset="-120"/>
              </a:rPr>
              <a:t>Fiertés : Pong synchronisé, Mode spectateur, Architecture scalable.</a:t>
            </a: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" y="95250"/>
            <a:ext cx="4128249" cy="5943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miter lim="800000"/>
          </a:ln>
        </p:spPr>
      </p:sp>
      <p:pic>
        <p:nvPicPr>
          <p:cNvPr id="3" name="Image 0"/>
          <p:cNvPicPr>
            <a:picLocks noChangeAspect="1"/>
          </p:cNvPicPr>
          <p:nvPr/>
        </p:nvPicPr>
        <p:blipFill>
          <a:blip r:embed="rId3"/>
          <a:srcRect t="11478" b="11478"/>
          <a:stretch/>
        </p:blipFill>
        <p:spPr>
          <a:xfrm>
            <a:off x="95250" y="95250"/>
            <a:ext cx="4128249" cy="5943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99749" y="512921"/>
            <a:ext cx="4667250" cy="216337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l">
              <a:lnSpc>
                <a:spcPts val="1704"/>
              </a:lnSpc>
            </a:pPr>
            <a:r>
              <a:rPr lang="en-US" sz="1500" kern="0" spc="-45" dirty="0">
                <a:solidFill>
                  <a:srgbClr val="48DC92"/>
                </a:solidFill>
                <a:latin typeface="Geist Semi Bold" pitchFamily="34" charset="0"/>
                <a:ea typeface="Geist Semi Bold" pitchFamily="34" charset="-122"/>
                <a:cs typeface="Geist Semi Bold" pitchFamily="34" charset="-120"/>
              </a:rPr>
              <a:t>Conclusion</a:t>
            </a: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4699749" y="1003459"/>
            <a:ext cx="4667250" cy="47339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l">
              <a:lnSpc>
                <a:spcPts val="3727"/>
              </a:lnSpc>
              <a:spcBef>
                <a:spcPts val="2116"/>
              </a:spcBef>
            </a:pPr>
            <a:r>
              <a:rPr lang="en-US" sz="3750" kern="0" spc="-225" dirty="0">
                <a:solidFill>
                  <a:srgbClr val="333333"/>
                </a:solidFill>
                <a:latin typeface="Geist Semi Bold" pitchFamily="34" charset="0"/>
                <a:ea typeface="Geist Semi Bold" pitchFamily="34" charset="-122"/>
                <a:cs typeface="Geist Semi Bold" pitchFamily="34" charset="-120"/>
              </a:rPr>
              <a:t>Discord Gaming Plus</a:t>
            </a: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4699749" y="1686997"/>
            <a:ext cx="4790956" cy="165568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marL="241300" indent="-241300" algn="l">
              <a:lnSpc>
                <a:spcPts val="1874"/>
              </a:lnSpc>
              <a:spcBef>
                <a:spcPts val="1622"/>
              </a:spcBef>
              <a:buSzPct val="100000"/>
              <a:buChar char="•"/>
            </a:pPr>
            <a:r>
              <a:rPr lang="en-US" sz="1650" kern="0" spc="-49" dirty="0">
                <a:solidFill>
                  <a:srgbClr val="333333"/>
                </a:solidFill>
                <a:latin typeface="Geist Extra Bold" pitchFamily="34" charset="0"/>
                <a:ea typeface="Geist Extra Bold" pitchFamily="34" charset="-122"/>
                <a:cs typeface="Geist Extra Bold" pitchFamily="34" charset="-120"/>
              </a:rPr>
              <a:t>Plateforme gaming social temps réel</a:t>
            </a:r>
            <a:endParaRPr lang="en-US" dirty="0"/>
          </a:p>
          <a:p>
            <a:pPr marL="241300" indent="-241300" algn="l">
              <a:lnSpc>
                <a:spcPts val="1874"/>
              </a:lnSpc>
              <a:spcBef>
                <a:spcPts val="1810"/>
              </a:spcBef>
              <a:buSzPct val="100000"/>
              <a:buChar char="•"/>
            </a:pPr>
            <a:r>
              <a:rPr lang="en-US" sz="1650" kern="0" spc="-49" dirty="0">
                <a:solidFill>
                  <a:srgbClr val="333333"/>
                </a:solidFill>
                <a:latin typeface="Geist Extra Bold" pitchFamily="34" charset="0"/>
                <a:ea typeface="Geist Extra Bold" pitchFamily="34" charset="-122"/>
                <a:cs typeface="Geist Extra Bold" pitchFamily="34" charset="-120"/>
              </a:rPr>
              <a:t>5 jeux + chat + guildes</a:t>
            </a:r>
            <a:endParaRPr lang="en-US" dirty="0"/>
          </a:p>
          <a:p>
            <a:pPr marL="241300" indent="-241300" algn="l">
              <a:lnSpc>
                <a:spcPts val="1874"/>
              </a:lnSpc>
              <a:spcBef>
                <a:spcPts val="1810"/>
              </a:spcBef>
              <a:buSzPct val="100000"/>
              <a:buChar char="•"/>
            </a:pPr>
            <a:r>
              <a:rPr lang="en-US" sz="1650" kern="0" spc="-49" dirty="0">
                <a:solidFill>
                  <a:srgbClr val="333333"/>
                </a:solidFill>
                <a:latin typeface="Geist Extra Bold" pitchFamily="34" charset="0"/>
                <a:ea typeface="Geist Extra Bold" pitchFamily="34" charset="-122"/>
                <a:cs typeface="Geist Extra Bold" pitchFamily="34" charset="-120"/>
              </a:rPr>
              <a:t>Stack moderne : Vue 3, Node.js, PostgreSQL</a:t>
            </a:r>
            <a:endParaRPr lang="en-US" dirty="0"/>
          </a:p>
          <a:p>
            <a:pPr marL="241300" indent="-241300" algn="l">
              <a:lnSpc>
                <a:spcPts val="1874"/>
              </a:lnSpc>
              <a:spcBef>
                <a:spcPts val="1810"/>
              </a:spcBef>
              <a:buSzPct val="100000"/>
              <a:buChar char="•"/>
            </a:pPr>
            <a:r>
              <a:rPr lang="en-US" sz="1650" kern="0" spc="-49" dirty="0">
                <a:solidFill>
                  <a:srgbClr val="333333"/>
                </a:solidFill>
                <a:latin typeface="Geist Extra Bold" pitchFamily="34" charset="0"/>
                <a:ea typeface="Geist Extra Bold" pitchFamily="34" charset="-122"/>
                <a:cs typeface="Geist Extra Bold" pitchFamily="34" charset="-120"/>
              </a:rPr>
              <a:t>Développé en 48h par une équipe dédiée</a:t>
            </a: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4699749" y="3484910"/>
            <a:ext cx="4667250" cy="1413272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>
              <a:lnSpc>
                <a:spcPts val="2226"/>
              </a:lnSpc>
              <a:spcBef>
                <a:spcPts val="1344"/>
              </a:spcBef>
            </a:pPr>
            <a:br>
              <a:rPr lang="en-US" sz="1650" kern="0" spc="-66" dirty="0">
                <a:solidFill>
                  <a:srgbClr val="000000">
                    <a:alpha val="65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</a:br>
            <a:r>
              <a:rPr lang="en-US" sz="1650" kern="0" spc="-66" dirty="0">
                <a:solidFill>
                  <a:srgbClr val="000000">
                    <a:alpha val="65000"/>
                  </a:srgbClr>
                </a:solidFill>
                <a:latin typeface="Geist Semi Bold" pitchFamily="34" charset="0"/>
                <a:ea typeface="Geist Semi Bold" pitchFamily="34" charset="-122"/>
                <a:cs typeface="Geist Semi Bold" pitchFamily="34" charset="-120"/>
              </a:rPr>
              <a:t>Liens :</a:t>
            </a:r>
            <a:br>
              <a:rPr lang="en-US" sz="1650" kern="0" spc="-66" dirty="0">
                <a:solidFill>
                  <a:srgbClr val="000000">
                    <a:alpha val="65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</a:br>
            <a:r>
              <a:rPr lang="en-US" sz="1650" u="sng" kern="0" spc="-66" dirty="0">
                <a:solidFill>
                  <a:srgbClr val="11A9E2"/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  <a:hlinkClick r:id="rId4"/>
              </a:rPr>
              <a:t>https://gaming-frontend-gtzd.onrender.com/</a:t>
            </a:r>
            <a:br>
              <a:rPr lang="en-US" sz="1650" kern="0" spc="-66" dirty="0">
                <a:solidFill>
                  <a:srgbClr val="000000">
                    <a:alpha val="65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  <a:hlinkClick r:id="rId4"/>
              </a:rPr>
            </a:br>
            <a:r>
              <a:rPr lang="en-US" sz="1650" u="sng" kern="0" spc="-66" dirty="0">
                <a:solidFill>
                  <a:srgbClr val="11A9E2"/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  <a:hlinkClick r:id="rId5"/>
              </a:rPr>
              <a:t>https://github.com/ArmSal/3PRJ2</a:t>
            </a: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4699749" y="5081826"/>
            <a:ext cx="4667250" cy="565309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l">
              <a:lnSpc>
                <a:spcPts val="2226"/>
              </a:lnSpc>
              <a:spcBef>
                <a:spcPts val="1172"/>
              </a:spcBef>
            </a:pPr>
            <a:br>
              <a:rPr lang="en-US" sz="1650" kern="0" spc="-66" dirty="0">
                <a:solidFill>
                  <a:srgbClr val="000000">
                    <a:alpha val="65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</a:br>
            <a:r>
              <a:rPr lang="en-US" sz="1650" kern="0" spc="-66" dirty="0">
                <a:solidFill>
                  <a:srgbClr val="000000">
                    <a:alpha val="65000"/>
                  </a:srgbClr>
                </a:solidFill>
                <a:latin typeface="Geist Semi Bold" pitchFamily="34" charset="0"/>
                <a:ea typeface="Geist Semi Bold" pitchFamily="34" charset="-122"/>
                <a:cs typeface="Geist Semi Bold" pitchFamily="34" charset="-120"/>
              </a:rPr>
              <a:t>Contact :</a:t>
            </a:r>
            <a:r>
              <a:rPr lang="en-US" sz="1650" kern="0" spc="-66" dirty="0">
                <a:solidFill>
                  <a:srgbClr val="000000">
                    <a:alpha val="65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 [107456@ecole-it.com]</a:t>
            </a:r>
            <a:endParaRPr lang="en-US" dirty="0"/>
          </a:p>
        </p:txBody>
      </p:sp>
      <p:sp>
        <p:nvSpPr>
          <p:cNvPr id="9" name="Shape 6"/>
          <p:cNvSpPr/>
          <p:nvPr/>
        </p:nvSpPr>
        <p:spPr>
          <a:xfrm>
            <a:off x="0" y="6134100"/>
            <a:ext cx="12192000" cy="723900"/>
          </a:xfrm>
          <a:prstGeom prst="rect">
            <a:avLst/>
          </a:prstGeom>
          <a:solidFill>
            <a:srgbClr val="F2F2F2"/>
          </a:solidFill>
          <a:ln>
            <a:miter lim="800000"/>
          </a:ln>
        </p:spPr>
      </p:sp>
      <p:sp>
        <p:nvSpPr>
          <p:cNvPr id="10" name="Text 7"/>
          <p:cNvSpPr/>
          <p:nvPr/>
        </p:nvSpPr>
        <p:spPr>
          <a:xfrm>
            <a:off x="4067056" y="6376273"/>
            <a:ext cx="4057889" cy="23800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ctr">
              <a:lnSpc>
                <a:spcPts val="1874"/>
              </a:lnSpc>
            </a:pPr>
            <a:r>
              <a:rPr lang="en-US" sz="1650" kern="0" spc="-49" dirty="0">
                <a:solidFill>
                  <a:srgbClr val="333333"/>
                </a:solidFill>
                <a:latin typeface="Geist Semi Bold" pitchFamily="34" charset="0"/>
                <a:ea typeface="Geist Semi Bold" pitchFamily="34" charset="-122"/>
                <a:cs typeface="Geist Semi Bold" pitchFamily="34" charset="-120"/>
              </a:rPr>
              <a:t>Prêts à révolutionner le gaming social ?</a:t>
            </a:r>
            <a:endParaRPr lang="en-US" dirty="0"/>
          </a:p>
        </p:txBody>
      </p:sp>
      <p:pic>
        <p:nvPicPr>
          <p:cNvPr id="12" name="Graphique 11">
            <a:extLst>
              <a:ext uri="{FF2B5EF4-FFF2-40B4-BE49-F238E27FC236}">
                <a16:creationId xmlns:a16="http://schemas.microsoft.com/office/drawing/2014/main" id="{A26401B0-38DA-209C-DE29-28820FE30B7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696945" y="898413"/>
            <a:ext cx="1898909" cy="189890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8625" y="411004"/>
            <a:ext cx="11334750" cy="47339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3727"/>
              </a:lnSpc>
            </a:pPr>
            <a:r>
              <a:rPr lang="en-US" sz="3750" kern="0" spc="-225" dirty="0">
                <a:solidFill>
                  <a:srgbClr val="333333"/>
                </a:solidFill>
                <a:latin typeface="Geist Semi Bold" pitchFamily="34" charset="0"/>
                <a:ea typeface="Geist Semi Bold" pitchFamily="34" charset="-122"/>
                <a:cs typeface="Geist Semi Bold" pitchFamily="34" charset="-120"/>
              </a:rPr>
              <a:t>Notre Équipe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28625" y="1034177"/>
            <a:ext cx="11334750" cy="282654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2226"/>
              </a:lnSpc>
              <a:spcBef>
                <a:spcPts val="1156"/>
              </a:spcBef>
            </a:pPr>
            <a:r>
              <a:rPr lang="en-US" sz="1650" kern="0" spc="-66" dirty="0">
                <a:solidFill>
                  <a:srgbClr val="000000">
                    <a:alpha val="65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Quatre étudiants aux compétences complémentaires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511969" y="2162175"/>
            <a:ext cx="2381250" cy="2381250"/>
          </a:xfrm>
          <a:prstGeom prst="ellipse">
            <a:avLst/>
          </a:prstGeom>
          <a:noFill/>
          <a:ln w="50800">
            <a:solidFill>
              <a:srgbClr val="48DC92"/>
            </a:solidFill>
            <a:prstDash val="solid"/>
            <a:miter lim="800000"/>
          </a:ln>
        </p:spPr>
      </p:sp>
      <p:sp>
        <p:nvSpPr>
          <p:cNvPr id="5" name="Text 3"/>
          <p:cNvSpPr/>
          <p:nvPr/>
        </p:nvSpPr>
        <p:spPr>
          <a:xfrm>
            <a:off x="428625" y="4686419"/>
            <a:ext cx="2547938" cy="259675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2045"/>
              </a:lnSpc>
            </a:pPr>
            <a:r>
              <a:rPr lang="en-US" sz="1800" kern="0" spc="-54" dirty="0">
                <a:solidFill>
                  <a:srgbClr val="333333"/>
                </a:solidFill>
                <a:latin typeface="Geist Semi Bold" pitchFamily="34" charset="0"/>
                <a:ea typeface="Geist Semi Bold" pitchFamily="34" charset="-122"/>
                <a:cs typeface="Geist Semi Bold" pitchFamily="34" charset="-120"/>
              </a:rPr>
              <a:t>Backend Dev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28625" y="5026819"/>
            <a:ext cx="2547938" cy="256937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2023"/>
              </a:lnSpc>
              <a:spcBef>
                <a:spcPts val="623"/>
              </a:spcBef>
            </a:pPr>
            <a:r>
              <a:rPr lang="en-US" sz="1500" kern="0" spc="-60" dirty="0">
                <a:solidFill>
                  <a:srgbClr val="000000">
                    <a:alpha val="65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Node.js, API, Sockets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3440906" y="2162175"/>
            <a:ext cx="2381250" cy="2381250"/>
          </a:xfrm>
          <a:prstGeom prst="ellipse">
            <a:avLst/>
          </a:prstGeom>
          <a:noFill/>
          <a:ln w="50800">
            <a:solidFill>
              <a:srgbClr val="48DC92"/>
            </a:solidFill>
            <a:prstDash val="solid"/>
            <a:miter lim="800000"/>
          </a:ln>
        </p:spPr>
      </p:sp>
      <p:sp>
        <p:nvSpPr>
          <p:cNvPr id="8" name="Text 6"/>
          <p:cNvSpPr/>
          <p:nvPr/>
        </p:nvSpPr>
        <p:spPr>
          <a:xfrm>
            <a:off x="3357563" y="4686419"/>
            <a:ext cx="2547938" cy="259675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2045"/>
              </a:lnSpc>
            </a:pPr>
            <a:r>
              <a:rPr lang="en-US" sz="1800" kern="0" spc="-54" dirty="0">
                <a:solidFill>
                  <a:srgbClr val="333333"/>
                </a:solidFill>
                <a:latin typeface="Geist Semi Bold" pitchFamily="34" charset="0"/>
                <a:ea typeface="Geist Semi Bold" pitchFamily="34" charset="-122"/>
                <a:cs typeface="Geist Semi Bold" pitchFamily="34" charset="-120"/>
              </a:rPr>
              <a:t>Frontend Dev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357563" y="5026819"/>
            <a:ext cx="2547938" cy="256937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2023"/>
              </a:lnSpc>
              <a:spcBef>
                <a:spcPts val="623"/>
              </a:spcBef>
            </a:pPr>
            <a:r>
              <a:rPr lang="en-US" sz="1500" kern="0" spc="-60" dirty="0">
                <a:solidFill>
                  <a:srgbClr val="000000">
                    <a:alpha val="65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Vue.js, UI, Jeux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6369844" y="2162175"/>
            <a:ext cx="2381250" cy="2381250"/>
          </a:xfrm>
          <a:prstGeom prst="ellipse">
            <a:avLst/>
          </a:prstGeom>
          <a:noFill/>
          <a:ln w="50800">
            <a:solidFill>
              <a:srgbClr val="48DC92"/>
            </a:solidFill>
            <a:prstDash val="solid"/>
            <a:miter lim="800000"/>
          </a:ln>
        </p:spPr>
      </p:sp>
      <p:sp>
        <p:nvSpPr>
          <p:cNvPr id="11" name="Text 9"/>
          <p:cNvSpPr/>
          <p:nvPr/>
        </p:nvSpPr>
        <p:spPr>
          <a:xfrm>
            <a:off x="6286500" y="4686419"/>
            <a:ext cx="2547938" cy="259675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2045"/>
              </a:lnSpc>
            </a:pPr>
            <a:r>
              <a:rPr lang="en-US" sz="1800" kern="0" spc="-54" dirty="0">
                <a:solidFill>
                  <a:srgbClr val="333333"/>
                </a:solidFill>
                <a:latin typeface="Geist Semi Bold" pitchFamily="34" charset="0"/>
                <a:ea typeface="Geist Semi Bold" pitchFamily="34" charset="-122"/>
                <a:cs typeface="Geist Semi Bold" pitchFamily="34" charset="-120"/>
              </a:rPr>
              <a:t>DevOps Lead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286500" y="5026819"/>
            <a:ext cx="2547938" cy="256937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2023"/>
              </a:lnSpc>
              <a:spcBef>
                <a:spcPts val="623"/>
              </a:spcBef>
            </a:pPr>
            <a:r>
              <a:rPr lang="en-US" sz="1500" kern="0" spc="-60" dirty="0">
                <a:solidFill>
                  <a:srgbClr val="000000">
                    <a:alpha val="65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Docker, CI/CD</a:t>
            </a: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9298781" y="2162175"/>
            <a:ext cx="2381250" cy="2381250"/>
          </a:xfrm>
          <a:prstGeom prst="ellipse">
            <a:avLst/>
          </a:prstGeom>
          <a:noFill/>
          <a:ln w="50800">
            <a:solidFill>
              <a:srgbClr val="48DC92"/>
            </a:solidFill>
            <a:prstDash val="solid"/>
            <a:miter lim="800000"/>
          </a:ln>
        </p:spPr>
      </p:sp>
      <p:sp>
        <p:nvSpPr>
          <p:cNvPr id="14" name="Text 12"/>
          <p:cNvSpPr/>
          <p:nvPr/>
        </p:nvSpPr>
        <p:spPr>
          <a:xfrm>
            <a:off x="9215438" y="4686419"/>
            <a:ext cx="2547938" cy="259675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2045"/>
              </a:lnSpc>
            </a:pPr>
            <a:r>
              <a:rPr lang="en-US" sz="1800" kern="0" spc="-54" dirty="0">
                <a:solidFill>
                  <a:srgbClr val="333333"/>
                </a:solidFill>
                <a:latin typeface="Geist Semi Bold" pitchFamily="34" charset="0"/>
                <a:ea typeface="Geist Semi Bold" pitchFamily="34" charset="-122"/>
                <a:cs typeface="Geist Semi Bold" pitchFamily="34" charset="-120"/>
              </a:rPr>
              <a:t>Database &amp; CI/CD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9215438" y="5026819"/>
            <a:ext cx="2547938" cy="256937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2023"/>
              </a:lnSpc>
              <a:spcBef>
                <a:spcPts val="623"/>
              </a:spcBef>
            </a:pPr>
            <a:r>
              <a:rPr lang="en-US" sz="1500" kern="0" spc="-60" dirty="0">
                <a:solidFill>
                  <a:srgbClr val="000000">
                    <a:alpha val="65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PostgreSQL, Pipelines</a:t>
            </a: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0" y="6134100"/>
            <a:ext cx="12192000" cy="723900"/>
          </a:xfrm>
          <a:prstGeom prst="rect">
            <a:avLst/>
          </a:prstGeom>
          <a:solidFill>
            <a:srgbClr val="F2F2F2"/>
          </a:solidFill>
          <a:ln>
            <a:miter lim="800000"/>
          </a:ln>
        </p:spPr>
      </p:sp>
      <p:sp>
        <p:nvSpPr>
          <p:cNvPr id="17" name="Text 15"/>
          <p:cNvSpPr/>
          <p:nvPr/>
        </p:nvSpPr>
        <p:spPr>
          <a:xfrm>
            <a:off x="1919288" y="6376273"/>
            <a:ext cx="8353425" cy="23800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ctr">
              <a:lnSpc>
                <a:spcPts val="1874"/>
              </a:lnSpc>
            </a:pPr>
            <a:r>
              <a:rPr lang="en-US" sz="1650" kern="0" spc="-49" dirty="0">
                <a:solidFill>
                  <a:srgbClr val="333333"/>
                </a:solidFill>
                <a:latin typeface="Geist Semi Bold" pitchFamily="34" charset="0"/>
                <a:ea typeface="Geist Semi Bold" pitchFamily="34" charset="-122"/>
                <a:cs typeface="Geist Semi Bold" pitchFamily="34" charset="-120"/>
              </a:rPr>
              <a:t>Méthodologie : Daily Standups, Git workflow, Tests immédiats, Déploiement continu.</a:t>
            </a:r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7749A68-E8B4-E924-CB2F-A41D85697869}"/>
              </a:ext>
            </a:extLst>
          </p:cNvPr>
          <p:cNvSpPr/>
          <p:nvPr/>
        </p:nvSpPr>
        <p:spPr>
          <a:xfrm>
            <a:off x="670099" y="3036076"/>
            <a:ext cx="2064989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fr-FR" b="1" dirty="0" err="1"/>
              <a:t>Babikir</a:t>
            </a:r>
            <a:r>
              <a:rPr lang="fr-FR" b="1" dirty="0"/>
              <a:t> </a:t>
            </a:r>
            <a:br>
              <a:rPr lang="fr-FR" b="1" dirty="0"/>
            </a:br>
            <a:r>
              <a:rPr lang="fr-FR" b="1" dirty="0"/>
              <a:t>IBRAHIM AL KHALIL</a:t>
            </a:r>
            <a:endParaRPr lang="fr-FR" sz="5400" b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6C59F1B-F8FC-0440-4564-A3D995A5C568}"/>
              </a:ext>
            </a:extLst>
          </p:cNvPr>
          <p:cNvSpPr/>
          <p:nvPr/>
        </p:nvSpPr>
        <p:spPr>
          <a:xfrm>
            <a:off x="4180926" y="2977713"/>
            <a:ext cx="901209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fr-FR" b="1" dirty="0" err="1"/>
              <a:t>Fedi</a:t>
            </a:r>
            <a:r>
              <a:rPr lang="fr-FR" b="1" dirty="0"/>
              <a:t> </a:t>
            </a:r>
            <a:br>
              <a:rPr lang="fr-FR" b="1" dirty="0"/>
            </a:br>
            <a:r>
              <a:rPr lang="fr-FR" b="1" dirty="0"/>
              <a:t>KHALDI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6495BA2-51E5-E022-FEDB-E8AD7084B04B}"/>
              </a:ext>
            </a:extLst>
          </p:cNvPr>
          <p:cNvSpPr/>
          <p:nvPr/>
        </p:nvSpPr>
        <p:spPr>
          <a:xfrm>
            <a:off x="7082613" y="3029633"/>
            <a:ext cx="955711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fr-FR" b="1" dirty="0"/>
              <a:t>Armend</a:t>
            </a:r>
            <a:br>
              <a:rPr lang="fr-FR" b="1" dirty="0"/>
            </a:br>
            <a:r>
              <a:rPr lang="fr-FR" b="1" dirty="0"/>
              <a:t>SALIHU</a:t>
            </a:r>
            <a:endParaRPr lang="fr-FR" sz="5400" b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A0E6B37-EEE3-7EAF-764B-34676C3D8006}"/>
              </a:ext>
            </a:extLst>
          </p:cNvPr>
          <p:cNvSpPr/>
          <p:nvPr/>
        </p:nvSpPr>
        <p:spPr>
          <a:xfrm>
            <a:off x="9653472" y="3029632"/>
            <a:ext cx="1671868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fr-FR" b="1" dirty="0"/>
              <a:t>Abid</a:t>
            </a:r>
            <a:br>
              <a:rPr lang="fr-FR" b="1" dirty="0"/>
            </a:br>
            <a:r>
              <a:rPr lang="fr-FR" b="1" dirty="0"/>
              <a:t>RAKHIS AHMAT</a:t>
            </a:r>
          </a:p>
        </p:txBody>
      </p:sp>
      <p:sp>
        <p:nvSpPr>
          <p:cNvPr id="23" name="Rectangle 2">
            <a:extLst>
              <a:ext uri="{FF2B5EF4-FFF2-40B4-BE49-F238E27FC236}">
                <a16:creationId xmlns:a16="http://schemas.microsoft.com/office/drawing/2014/main" id="{5DEEC4E3-8677-886D-A73C-BA0FF93F47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38499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11A9E2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1015</Words>
  <Application>Microsoft Office PowerPoint</Application>
  <PresentationFormat>Grand écran</PresentationFormat>
  <Paragraphs>158</Paragraphs>
  <Slides>14</Slides>
  <Notes>14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19" baseType="lpstr">
      <vt:lpstr>Geist Extra Bold</vt:lpstr>
      <vt:lpstr>Geist Regular</vt:lpstr>
      <vt:lpstr>Geist Semi Bold</vt:lpstr>
      <vt:lpstr>Arial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Beautiful.ai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Discord Gaming Plus  Révolutionner le Gaming Social</dc:title>
  <dc:subject>Discord Gaming Plus  Révolutionner le Gaming Social</dc:subject>
  <dc:creator>Armend Salihu</dc:creator>
  <cp:lastModifiedBy>Armend Salihu</cp:lastModifiedBy>
  <cp:revision>4</cp:revision>
  <dcterms:created xsi:type="dcterms:W3CDTF">2026-04-09T08:26:17Z</dcterms:created>
  <dcterms:modified xsi:type="dcterms:W3CDTF">2026-04-09T09:10:17Z</dcterms:modified>
</cp:coreProperties>
</file>